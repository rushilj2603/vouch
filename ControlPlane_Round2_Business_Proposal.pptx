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4" r:id="rId3"/>
    <p:sldMasterId id="2147483699" r:id="rId4"/>
  </p:sldMasterIdLst>
  <p:notesMasterIdLst>
    <p:notesMasterId r:id="rId10"/>
  </p:notesMasterIdLst>
  <p:sldIdLst>
    <p:sldId id="1906872571" r:id="rId17"/>
    <p:sldId id="2857" r:id="rId5"/>
    <p:sldId id="1906872572" r:id="rId18"/>
    <p:sldId id="1906872573" r:id="rId19"/>
    <p:sldId id="1906872574" r:id="rId20"/>
    <p:sldId id="1906872575" r:id="rId21"/>
    <p:sldId id="1906872576" r:id="rId22"/>
    <p:sldId id="1906872577" r:id="rId23"/>
    <p:sldId id="1906872578" r:id="rId24"/>
    <p:sldId id="1906872579" r:id="rId25"/>
    <p:sldId id="1906872580" r:id="rId26"/>
    <p:sldId id="1906872581" r:id="rId27"/>
    <p:sldId id="1906872582" r:id="rId28"/>
    <p:sldId id="1906872583" r:id="rId29"/>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5E361-6728-4564-925F-CDEB010D9221}" v="1" dt="2026-08-12T11:52:41.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5" d="100"/>
          <a:sy n="85" d="100"/>
        </p:scale>
        <p:origin x="38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2.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 Target="slides/slide1.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umit" userId="1897bf9b-0dd3-4194-b659-65bd26db6033" providerId="ADAL" clId="{5772E9CC-A2D7-4A18-9F3D-98CD1ADE6210}"/>
    <pc:docChg chg="undo custSel addSld delSld modSld modMainMaster">
      <pc:chgData name="Gupta, Sumit" userId="1897bf9b-0dd3-4194-b659-65bd26db6033" providerId="ADAL" clId="{5772E9CC-A2D7-4A18-9F3D-98CD1ADE6210}" dt="2026-08-12T11:52:43.731" v="19" actId="47"/>
      <pc:docMkLst>
        <pc:docMk/>
      </pc:docMkLst>
      <pc:sldChg chg="add">
        <pc:chgData name="Gupta, Sumit" userId="1897bf9b-0dd3-4194-b659-65bd26db6033" providerId="ADAL" clId="{5772E9CC-A2D7-4A18-9F3D-98CD1ADE6210}" dt="2026-08-12T11:52:41.597" v="18"/>
        <pc:sldMkLst>
          <pc:docMk/>
          <pc:sldMk cId="4229161518" sldId="820"/>
        </pc:sldMkLst>
      </pc:sldChg>
      <pc:sldChg chg="del">
        <pc:chgData name="Gupta, Sumit" userId="1897bf9b-0dd3-4194-b659-65bd26db6033" providerId="ADAL" clId="{5772E9CC-A2D7-4A18-9F3D-98CD1ADE6210}" dt="2026-08-12T11:52:43.731" v="19" actId="47"/>
        <pc:sldMkLst>
          <pc:docMk/>
          <pc:sldMk cId="1508494297" sldId="945"/>
        </pc:sldMkLst>
      </pc:sldChg>
      <pc:sldChg chg="add">
        <pc:chgData name="Gupta, Sumit" userId="1897bf9b-0dd3-4194-b659-65bd26db6033" providerId="ADAL" clId="{5772E9CC-A2D7-4A18-9F3D-98CD1ADE6210}" dt="2026-07-24T04:48:05.146" v="0"/>
        <pc:sldMkLst>
          <pc:docMk/>
          <pc:sldMk cId="2959471642" sldId="2857"/>
        </pc:sldMkLst>
      </pc:sldChg>
      <pc:sldChg chg="add">
        <pc:chgData name="Gupta, Sumit" userId="1897bf9b-0dd3-4194-b659-65bd26db6033" providerId="ADAL" clId="{5772E9CC-A2D7-4A18-9F3D-98CD1ADE6210}" dt="2026-07-24T04:48:05.146" v="0"/>
        <pc:sldMkLst>
          <pc:docMk/>
          <pc:sldMk cId="280955698" sldId="2870"/>
        </pc:sldMkLst>
      </pc:sldChg>
      <pc:sldChg chg="add">
        <pc:chgData name="Gupta, Sumit" userId="1897bf9b-0dd3-4194-b659-65bd26db6033" providerId="ADAL" clId="{5772E9CC-A2D7-4A18-9F3D-98CD1ADE6210}" dt="2026-07-24T04:48:05.146" v="0"/>
        <pc:sldMkLst>
          <pc:docMk/>
          <pc:sldMk cId="969716135" sldId="1906872563"/>
        </pc:sldMkLst>
      </pc:sldChg>
      <pc:sldChg chg="delSp modSp add mod">
        <pc:chgData name="Gupta, Sumit" userId="1897bf9b-0dd3-4194-b659-65bd26db6033" providerId="ADAL" clId="{5772E9CC-A2D7-4A18-9F3D-98CD1ADE6210}" dt="2026-07-24T04:48:25.970" v="2" actId="20577"/>
        <pc:sldMkLst>
          <pc:docMk/>
          <pc:sldMk cId="2205980423" sldId="1906872569"/>
        </pc:sldMkLst>
        <pc:spChg chg="mod">
          <ac:chgData name="Gupta, Sumit" userId="1897bf9b-0dd3-4194-b659-65bd26db6033" providerId="ADAL" clId="{5772E9CC-A2D7-4A18-9F3D-98CD1ADE6210}" dt="2026-07-24T04:48:25.970" v="2" actId="20577"/>
          <ac:spMkLst>
            <pc:docMk/>
            <pc:sldMk cId="2205980423" sldId="1906872569"/>
            <ac:spMk id="4" creationId="{00000000-0000-0000-0000-000000000000}"/>
          </ac:spMkLst>
        </pc:spChg>
      </pc:sldChg>
      <pc:sldChg chg="modSp add mod">
        <pc:chgData name="Gupta, Sumit" userId="1897bf9b-0dd3-4194-b659-65bd26db6033" providerId="ADAL" clId="{5772E9CC-A2D7-4A18-9F3D-98CD1ADE6210}" dt="2026-07-24T04:48:43.369" v="7" actId="20577"/>
        <pc:sldMkLst>
          <pc:docMk/>
          <pc:sldMk cId="3845603560" sldId="1906872570"/>
        </pc:sldMkLst>
        <pc:spChg chg="mod">
          <ac:chgData name="Gupta, Sumit" userId="1897bf9b-0dd3-4194-b659-65bd26db6033" providerId="ADAL" clId="{5772E9CC-A2D7-4A18-9F3D-98CD1ADE6210}" dt="2026-07-24T04:48:43.369" v="7" actId="20577"/>
          <ac:spMkLst>
            <pc:docMk/>
            <pc:sldMk cId="3845603560" sldId="1906872570"/>
            <ac:spMk id="4" creationId="{00000000-0000-0000-0000-000000000000}"/>
          </ac:spMkLst>
        </pc:spChg>
      </pc:sldChg>
      <pc:sldMasterChg chg="delSldLayout modSldLayout">
        <pc:chgData name="Gupta, Sumit" userId="1897bf9b-0dd3-4194-b659-65bd26db6033" providerId="ADAL" clId="{5772E9CC-A2D7-4A18-9F3D-98CD1ADE6210}" dt="2026-07-24T04:49:43.724" v="17"/>
        <pc:sldMasterMkLst>
          <pc:docMk/>
          <pc:sldMasterMk cId="3154538439" sldId="2147483660"/>
        </pc:sldMasterMkLst>
        <pc:sldLayoutChg chg="modSp">
          <pc:chgData name="Gupta, Sumit" userId="1897bf9b-0dd3-4194-b659-65bd26db6033" providerId="ADAL" clId="{5772E9CC-A2D7-4A18-9F3D-98CD1ADE6210}" dt="2026-07-24T04:49:43.724" v="17"/>
          <pc:sldLayoutMkLst>
            <pc:docMk/>
            <pc:sldMasterMk cId="3154538439" sldId="2147483660"/>
            <pc:sldLayoutMk cId="2368417819" sldId="2147483662"/>
          </pc:sldLayoutMkLst>
          <pc:spChg chg="mod">
            <ac:chgData name="Gupta, Sumit" userId="1897bf9b-0dd3-4194-b659-65bd26db6033" providerId="ADAL" clId="{5772E9CC-A2D7-4A18-9F3D-98CD1ADE6210}" dt="2026-07-24T04:49:43.724" v="17"/>
            <ac:spMkLst>
              <pc:docMk/>
              <pc:sldMasterMk cId="3154538439" sldId="2147483660"/>
              <pc:sldLayoutMk cId="2368417819" sldId="2147483662"/>
              <ac:spMk id="3" creationId="{1BFF566D-EEFC-0454-54B0-66CBAB8DA700}"/>
            </ac:spMkLst>
          </pc:spChg>
        </pc:sldLayoutChg>
        <pc:sldLayoutChg chg="addSp delSp modSp mod">
          <pc:chgData name="Gupta, Sumit" userId="1897bf9b-0dd3-4194-b659-65bd26db6033" providerId="ADAL" clId="{5772E9CC-A2D7-4A18-9F3D-98CD1ADE6210}" dt="2026-07-24T04:49:43.724" v="17"/>
          <pc:sldLayoutMkLst>
            <pc:docMk/>
            <pc:sldMasterMk cId="3154538439" sldId="2147483660"/>
            <pc:sldLayoutMk cId="726607555" sldId="2147483673"/>
          </pc:sldLayoutMkLst>
          <pc:spChg chg="mod">
            <ac:chgData name="Gupta, Sumit" userId="1897bf9b-0dd3-4194-b659-65bd26db6033" providerId="ADAL" clId="{5772E9CC-A2D7-4A18-9F3D-98CD1ADE6210}" dt="2026-07-24T04:49:43.724" v="17"/>
            <ac:spMkLst>
              <pc:docMk/>
              <pc:sldMasterMk cId="3154538439" sldId="2147483660"/>
              <pc:sldLayoutMk cId="726607555" sldId="2147483673"/>
              <ac:spMk id="2" creationId="{8F090878-FDCB-E32E-7E4D-4A1D113FA508}"/>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dirty="0">
                <a:solidFill>
                  <a:schemeClr val="bg1">
                    <a:lumMod val="85000"/>
                    <a:alpha val="75000"/>
                  </a:schemeClr>
                </a:solidFill>
                <a:latin typeface="Graphik" panose="020B0503030202060203" pitchFamily="34" charset="77"/>
              </a:rPr>
              <a:t>Copyright © 2026 Accenture. All rights reserved.</a:t>
            </a:r>
            <a:endParaRPr lang="en-US" sz="108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312731847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655272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79483210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3639668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7592727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94660267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357989538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33236912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406299295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412379296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310359530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428978730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506925786"/>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009770318"/>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4828157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195989512"/>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42063165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
        <p:nvSpPr>
          <p:cNvPr id="11" name="Footer Placeholder 6">
            <a:extLst>
              <a:ext uri="{FF2B5EF4-FFF2-40B4-BE49-F238E27FC236}">
                <a16:creationId xmlns:a16="http://schemas.microsoft.com/office/drawing/2014/main" id="{91C0017E-4521-4295-9033-A405A2FA81F4}"/>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2" name="Slide Number Placeholder 9">
            <a:extLst>
              <a:ext uri="{FF2B5EF4-FFF2-40B4-BE49-F238E27FC236}">
                <a16:creationId xmlns:a16="http://schemas.microsoft.com/office/drawing/2014/main" id="{43EE0978-DC3A-4D86-83BC-C2F42549CA64}"/>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pic>
        <p:nvPicPr>
          <p:cNvPr id="5" name="Picture 4" descr="A picture containing drawing, clock&#10;&#10;Description automatically generated">
            <a:extLst>
              <a:ext uri="{FF2B5EF4-FFF2-40B4-BE49-F238E27FC236}">
                <a16:creationId xmlns:a16="http://schemas.microsoft.com/office/drawing/2014/main" id="{74B3D656-7B78-4FFC-881D-DD01CAC5AD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46195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668701291"/>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8/16/2026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16-08-2026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16-08-2026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16-08-2026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3626201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Relationship Id="rId16" Type="http://schemas.openxmlformats.org/officeDocument/2006/relationships/slideLayout" Target="../slideLayouts/slideLayout25.xml"/><Relationship Id="rId17" Type="http://schemas.openxmlformats.org/officeDocument/2006/relationships/slideLayout" Target="../slideLayouts/slideLayout26.xml"/><Relationship Id="rId18" Type="http://schemas.openxmlformats.org/officeDocument/2006/relationships/slideLayout" Target="../slideLayouts/slideLayout27.xml"/><Relationship Id="rId19" Type="http://schemas.openxmlformats.org/officeDocument/2006/relationships/slideLayout" Target="../slideLayouts/slideLayout28.xml"/><Relationship Id="rId20" Type="http://schemas.openxmlformats.org/officeDocument/2006/relationships/theme" Target="../theme/theme2.xml"/><Relationship Id="rId21" Type="http://schemas.openxmlformats.org/officeDocument/2006/relationships/image" Target="../media/image7.png"/><Relationship Id="rId22" Type="http://schemas.openxmlformats.org/officeDocument/2006/relationships/image" Target="../media/image8.png"/><Relationship Id="rId23" Type="http://schemas.openxmlformats.org/officeDocument/2006/relationships/image" Target="../media/image9.png"/><Relationship Id="rId24" Type="http://schemas.openxmlformats.org/officeDocument/2006/relationships/image" Target="../media/image10.png"/><Relationship Id="rId25" Type="http://schemas.openxmlformats.org/officeDocument/2006/relationships/image" Target="../media/image11.png"/><Relationship Id="rId26" Type="http://schemas.openxmlformats.org/officeDocument/2006/relationships/image" Target="../media/image12.png"/><Relationship Id="rId27" Type="http://schemas.openxmlformats.org/officeDocument/2006/relationships/image" Target="../media/image13.png"/><Relationship Id="rId28" Type="http://schemas.openxmlformats.org/officeDocument/2006/relationships/image" Target="../media/image14.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8"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7057270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16-08-2026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jpg"/><Relationship Id="rId3"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2.png"/><Relationship Id="rId3" Type="http://schemas.openxmlformats.org/officeDocument/2006/relationships/image" Target="../media/image23.jpeg"/><Relationship Id="rId4" Type="http://schemas.openxmlformats.org/officeDocument/2006/relationships/image" Target="../media/image2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FFFFFF"/>
                </a:solidFill>
                <a:effectLst/>
                <a:uLnTx/>
                <a:uFillTx/>
                <a:latin typeface="Arial" panose="020B0503030202060203" pitchFamily="34" charset="77"/>
                <a:ea typeface="+mn-ea"/>
                <a:cs typeface="+mn-cs"/>
              </a:rPr>
              <a:t>AI reinvention made real</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503030202060203" pitchFamily="34" charset="77"/>
                <a:ea typeface="+mn-ea"/>
                <a:cs typeface="+mn-cs"/>
              </a:rPr>
              <a:t>Accenture Innovation Challenge 2026</a:t>
            </a:r>
          </a:p>
        </p:txBody>
      </p:sp>
      <p:pic>
        <p:nvPicPr>
          <p:cNvPr id="20" name="Picture 19" descr="image.png"/>
          <p:cNvPicPr>
            <a:picLocks noChangeAspect="1"/>
          </p:cNvPicPr>
          <p:nvPr/>
        </p:nvPicPr>
        <p:blipFill>
          <a:blip r:embed="rId3"/>
          <a:stretch>
            <a:fillRect/>
          </a:stretch>
        </p:blipFill>
        <p:spPr>
          <a:xfrm>
            <a:off x="676893" y="667062"/>
            <a:ext cx="1251231" cy="330466"/>
          </a:xfrm>
          <a:prstGeom prst="rect">
            <a:avLst/>
          </a:prstGeom>
        </p:spPr>
      </p:pic>
      <p:sp>
        <p:nvSpPr>
          <p:cNvPr id="21" name="TextBox 20"/>
          <p:cNvSpPr txBox="1"/>
          <p:nvPr/>
        </p:nvSpPr>
        <p:spPr>
          <a:xfrm>
            <a:off x="2990088" y="6400800"/>
            <a:ext cx="6208776" cy="310896"/>
          </a:xfrm>
          <a:prstGeom prst="rect">
            <a:avLst/>
          </a:prstGeom>
          <a:noFill/>
        </p:spPr>
        <p:txBody>
          <a:bodyPr wrap="square" lIns="0" rIns="0" tIns="0" bIns="0">
            <a:spAutoFit/>
          </a:bodyPr>
          <a:lstStyle/>
          <a:p>
            <a:pPr algn="ctr">
              <a:lnSpc>
                <a:spcPct val="100000"/>
              </a:lnSpc>
            </a:pPr>
            <a:r>
              <a:rPr sz="1400" b="1" spc="200">
                <a:solidFill>
                  <a:srgbClr val="FFFFFF"/>
                </a:solidFill>
                <a:latin typeface="Arial"/>
              </a:rPr>
              <a:t>VOUCH  ·  VELOCITY GATE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3E37827-E5D7-46FD-9143-ABFBF88A628E}"/>
              </a:ext>
            </a:extLst>
          </p:cNvPr>
          <p:cNvSpPr/>
          <p:nvPr/>
        </p:nvSpPr>
        <p:spPr>
          <a:xfrm>
            <a:off x="7385349" y="2505161"/>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171E876B-A706-450C-8C34-951E6FA6C00F}"/>
              </a:ext>
            </a:extLst>
          </p:cNvPr>
          <p:cNvSpPr/>
          <p:nvPr/>
        </p:nvSpPr>
        <p:spPr>
          <a:xfrm>
            <a:off x="852718" y="2506579"/>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dirty="0">
                <a:latin typeface="Arial"/>
              </a:rPr>
              <a:t>Team details</a:t>
            </a:r>
            <a:endParaRPr lang="en-GB" dirty="0"/>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11506202" y="6519009"/>
            <a:ext cx="385711"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solidFill>
                  <a:srgbClr val="000000">
                    <a:alpha val="40000"/>
                  </a:srgbClr>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dirty="0">
              <a:ln>
                <a:noFill/>
              </a:ln>
              <a:solidFill>
                <a:srgbClr val="000000">
                  <a:alpha val="40000"/>
                </a:srgbClr>
              </a:solidFill>
              <a:effectLst/>
              <a:uLnTx/>
              <a:uFillTx/>
              <a:latin typeface="Graphik"/>
              <a:ea typeface="+mn-ea"/>
              <a:cs typeface="+mn-cs"/>
            </a:endParaRPr>
          </a:p>
        </p:txBody>
      </p:sp>
      <p:sp>
        <p:nvSpPr>
          <p:cNvPr id="39" name="Text Placeholder 27">
            <a:extLst>
              <a:ext uri="{FF2B5EF4-FFF2-40B4-BE49-F238E27FC236}">
                <a16:creationId xmlns:a16="http://schemas.microsoft.com/office/drawing/2014/main" id="{1D437424-4E2F-45EB-945E-4A07F8154854}"/>
              </a:ext>
            </a:extLst>
          </p:cNvPr>
          <p:cNvSpPr txBox="1">
            <a:spLocks/>
          </p:cNvSpPr>
          <p:nvPr/>
        </p:nvSpPr>
        <p:spPr>
          <a:xfrm>
            <a:off x="2637616" y="2098914"/>
            <a:ext cx="3177007" cy="811161"/>
          </a:xfrm>
          <a:prstGeom prst="rect">
            <a:avLst/>
          </a:prstGeom>
        </p:spPr>
        <p:txBody>
          <a:bodyPr vert="horz" lIns="0" tIns="0" rIns="0" bIns="0" rtlCol="0" anchor="b">
            <a:normAutofit fontScale="92500" lnSpcReduction="1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kumimoji="0" lang="en-GB" sz="3600" b="1" i="0" u="none" strike="noStrike" kern="1200" cap="none" spc="0" normalizeH="0" baseline="0" noProof="0" dirty="0">
                <a:ln>
                  <a:noFill/>
                </a:ln>
                <a:solidFill>
                  <a:srgbClr val="A100FF"/>
                </a:solidFill>
                <a:effectLst/>
                <a:uLnTx/>
                <a:uFillTx/>
                <a:latin typeface="Arial"/>
                <a:ea typeface="+mn-ea"/>
                <a:cs typeface="+mn-cs"/>
              </a:rPr>
              <a:t>Rushil Jain (Team Leader)</a:t>
            </a:r>
          </a:p>
        </p:txBody>
      </p:sp>
      <p:sp>
        <p:nvSpPr>
          <p:cNvPr id="30" name="Rectangle 29">
            <a:extLst>
              <a:ext uri="{FF2B5EF4-FFF2-40B4-BE49-F238E27FC236}">
                <a16:creationId xmlns:a16="http://schemas.microsoft.com/office/drawing/2014/main" id="{C66E72D5-38A8-4FA5-9EBD-60021A357B2A}"/>
              </a:ext>
            </a:extLst>
          </p:cNvPr>
          <p:cNvSpPr/>
          <p:nvPr/>
        </p:nvSpPr>
        <p:spPr>
          <a:xfrm>
            <a:off x="852718" y="4463806"/>
            <a:ext cx="1481237"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6" name="Straight Connector 5">
            <a:extLst>
              <a:ext uri="{FF2B5EF4-FFF2-40B4-BE49-F238E27FC236}">
                <a16:creationId xmlns:a16="http://schemas.microsoft.com/office/drawing/2014/main" id="{503A2336-9DAB-4FE3-86E5-A5694B473965}"/>
              </a:ext>
            </a:extLst>
          </p:cNvPr>
          <p:cNvCxnSpPr>
            <a:cxnSpLocks/>
          </p:cNvCxnSpPr>
          <p:nvPr/>
        </p:nvCxnSpPr>
        <p:spPr>
          <a:xfrm>
            <a:off x="6096000" y="1521230"/>
            <a:ext cx="0" cy="4523725"/>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D2BAEA9-C010-474F-8C80-BD3D504C25C1}"/>
              </a:ext>
            </a:extLst>
          </p:cNvPr>
          <p:cNvCxnSpPr/>
          <p:nvPr/>
        </p:nvCxnSpPr>
        <p:spPr>
          <a:xfrm>
            <a:off x="2623232"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1" name="Text Placeholder 27">
            <a:extLst>
              <a:ext uri="{FF2B5EF4-FFF2-40B4-BE49-F238E27FC236}">
                <a16:creationId xmlns:a16="http://schemas.microsoft.com/office/drawing/2014/main" id="{83134DD2-B1F2-44EA-BCAB-CB7F6D0B5057}"/>
              </a:ext>
            </a:extLst>
          </p:cNvPr>
          <p:cNvSpPr txBox="1">
            <a:spLocks/>
          </p:cNvSpPr>
          <p:nvPr/>
        </p:nvSpPr>
        <p:spPr>
          <a:xfrm>
            <a:off x="2751413" y="4203349"/>
            <a:ext cx="1474707" cy="811161"/>
          </a:xfrm>
          <a:prstGeom prst="rect">
            <a:avLst/>
          </a:prstGeom>
        </p:spPr>
        <p:txBody>
          <a:bodyPr vert="horz" lIns="0" tIns="0" rIns="0" bIns="0" rtlCol="0" anchor="b">
            <a:normAutofit fontScale="70000" lnSpcReduction="2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GB" dirty="0" err="1">
                <a:latin typeface="Arial"/>
              </a:rPr>
              <a:t>Somyak</a:t>
            </a:r>
            <a:r>
              <a:rPr lang="en-GB" dirty="0">
                <a:latin typeface="Arial"/>
              </a:rPr>
              <a:t> </a:t>
            </a:r>
            <a:r>
              <a:rPr lang="en-GB" dirty="0" err="1">
                <a:latin typeface="Arial"/>
              </a:rPr>
              <a:t>Mohanta</a:t>
            </a:r>
            <a:endParaRPr kumimoji="0" lang="en-GB" sz="3600" b="1" i="0" u="none" strike="noStrike" kern="1200" cap="none" spc="0" normalizeH="0" baseline="0" noProof="0" dirty="0">
              <a:ln>
                <a:noFill/>
              </a:ln>
              <a:solidFill>
                <a:srgbClr val="A100FF"/>
              </a:solidFill>
              <a:effectLst/>
              <a:uLnTx/>
              <a:uFillTx/>
              <a:latin typeface="Arial"/>
              <a:ea typeface="+mn-ea"/>
              <a:cs typeface="+mn-cs"/>
            </a:endParaRPr>
          </a:p>
        </p:txBody>
      </p:sp>
      <p:cxnSp>
        <p:nvCxnSpPr>
          <p:cNvPr id="64" name="Straight Connector 63">
            <a:extLst>
              <a:ext uri="{FF2B5EF4-FFF2-40B4-BE49-F238E27FC236}">
                <a16:creationId xmlns:a16="http://schemas.microsoft.com/office/drawing/2014/main" id="{857CC230-E21C-4184-9D11-81950CC08A89}"/>
              </a:ext>
            </a:extLst>
          </p:cNvPr>
          <p:cNvCxnSpPr/>
          <p:nvPr/>
        </p:nvCxnSpPr>
        <p:spPr>
          <a:xfrm>
            <a:off x="2751413" y="5101825"/>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7" name="Text Placeholder 27">
            <a:extLst>
              <a:ext uri="{FF2B5EF4-FFF2-40B4-BE49-F238E27FC236}">
                <a16:creationId xmlns:a16="http://schemas.microsoft.com/office/drawing/2014/main" id="{AB89B70E-DDF2-41D3-9411-6AA78204B1DA}"/>
              </a:ext>
            </a:extLst>
          </p:cNvPr>
          <p:cNvSpPr txBox="1">
            <a:spLocks/>
          </p:cNvSpPr>
          <p:nvPr/>
        </p:nvSpPr>
        <p:spPr>
          <a:xfrm>
            <a:off x="9165643" y="2098914"/>
            <a:ext cx="1437297" cy="811161"/>
          </a:xfrm>
          <a:prstGeom prst="rect">
            <a:avLst/>
          </a:prstGeom>
        </p:spPr>
        <p:txBody>
          <a:bodyPr vert="horz" lIns="0" tIns="0" rIns="0" bIns="0" rtlCol="0" anchor="b">
            <a:normAutofit fontScale="77500" lnSpcReduction="2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GB" dirty="0">
                <a:latin typeface="Arial"/>
              </a:rPr>
              <a:t>Mayank Tiwari</a:t>
            </a:r>
            <a:endParaRPr kumimoji="0" lang="en-GB" sz="3600" b="1" i="0" u="none" strike="noStrike" kern="1200" cap="none" spc="0" normalizeH="0" baseline="0" noProof="0" dirty="0">
              <a:ln>
                <a:noFill/>
              </a:ln>
              <a:solidFill>
                <a:srgbClr val="A100FF"/>
              </a:solidFill>
              <a:effectLst/>
              <a:uLnTx/>
              <a:uFillTx/>
              <a:latin typeface="Arial"/>
              <a:ea typeface="+mn-ea"/>
              <a:cs typeface="+mn-cs"/>
            </a:endParaRPr>
          </a:p>
        </p:txBody>
      </p:sp>
      <p:cxnSp>
        <p:nvCxnSpPr>
          <p:cNvPr id="29" name="Straight Connector 28">
            <a:extLst>
              <a:ext uri="{FF2B5EF4-FFF2-40B4-BE49-F238E27FC236}">
                <a16:creationId xmlns:a16="http://schemas.microsoft.com/office/drawing/2014/main" id="{B388F804-0525-4F8E-A5CE-A9E521C1E260}"/>
              </a:ext>
            </a:extLst>
          </p:cNvPr>
          <p:cNvCxnSpPr/>
          <p:nvPr/>
        </p:nvCxnSpPr>
        <p:spPr>
          <a:xfrm>
            <a:off x="9151259"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2292740133"/>
              </p:ext>
            </p:extLst>
          </p:nvPr>
        </p:nvGraphicFramePr>
        <p:xfrm>
          <a:off x="461913" y="1173024"/>
          <a:ext cx="11617737" cy="378454"/>
        </p:xfrm>
        <a:graphic>
          <a:graphicData uri="http://schemas.openxmlformats.org/drawingml/2006/table">
            <a:tbl>
              <a:tblPr firstRow="1" bandRow="1">
                <a:tableStyleId>{D7AC3CCA-C797-4891-BE02-D94E43425B78}</a:tableStyleId>
              </a:tblPr>
              <a:tblGrid>
                <a:gridCol w="4382355">
                  <a:extLst>
                    <a:ext uri="{9D8B030D-6E8A-4147-A177-3AD203B41FA5}">
                      <a16:colId xmlns:a16="http://schemas.microsoft.com/office/drawing/2014/main" val="129918070"/>
                    </a:ext>
                  </a:extLst>
                </a:gridCol>
                <a:gridCol w="7235382">
                  <a:extLst>
                    <a:ext uri="{9D8B030D-6E8A-4147-A177-3AD203B41FA5}">
                      <a16:colId xmlns:a16="http://schemas.microsoft.com/office/drawing/2014/main" val="1188269312"/>
                    </a:ext>
                  </a:extLst>
                </a:gridCol>
              </a:tblGrid>
              <a:tr h="378454">
                <a:tc>
                  <a:txBody>
                    <a:bodyPr/>
                    <a:lstStyle/>
                    <a:p>
                      <a:r>
                        <a:rPr lang="en-US" sz="1400" dirty="0">
                          <a:solidFill>
                            <a:srgbClr val="A100FF"/>
                          </a:solidFill>
                          <a:latin typeface="Arial"/>
                        </a:rPr>
                        <a:t>TEAM NAME: Velocity Gate</a:t>
                      </a: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sz="1400">
                          <a:solidFill>
                            <a:srgbClr val="A100FF"/>
                          </a:solidFill>
                          <a:latin typeface="Arial"/>
                        </a:rPr>
                        <a:t>PROBLEM STATEMENT 1:  ControlPlane.ai</a:t>
                      </a:r>
                      <a:endParaRPr lang="en-US" sz="1000" b="1" dirty="0">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2623232" y="3141433"/>
            <a:ext cx="2762684"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College: National Institute of Technology Karnataka, </a:t>
            </a:r>
            <a:r>
              <a:rPr kumimoji="0" lang="en-US" sz="1200" b="0" i="0" u="none" strike="noStrike" kern="1200" cap="none" spc="0" normalizeH="0" baseline="0" noProof="0" dirty="0" err="1">
                <a:ln>
                  <a:noFill/>
                </a:ln>
                <a:solidFill>
                  <a:srgbClr val="000000"/>
                </a:solidFill>
                <a:effectLst/>
                <a:uLnTx/>
                <a:uFillTx/>
                <a:latin typeface="Arial"/>
                <a:ea typeface="+mn-ea"/>
                <a:cs typeface="+mn-cs"/>
              </a:rPr>
              <a:t>Surathkal</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Stream: Electronics and Communication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Year of graduation: 2028</a:t>
            </a:r>
          </a:p>
        </p:txBody>
      </p:sp>
      <p:sp>
        <p:nvSpPr>
          <p:cNvPr id="19" name="TextBox 18">
            <a:extLst>
              <a:ext uri="{FF2B5EF4-FFF2-40B4-BE49-F238E27FC236}">
                <a16:creationId xmlns:a16="http://schemas.microsoft.com/office/drawing/2014/main" id="{BB9131AF-0078-459E-83A3-73A8BC9A11B8}"/>
              </a:ext>
            </a:extLst>
          </p:cNvPr>
          <p:cNvSpPr txBox="1"/>
          <p:nvPr/>
        </p:nvSpPr>
        <p:spPr>
          <a:xfrm>
            <a:off x="2637616" y="5236045"/>
            <a:ext cx="2762684" cy="1015663"/>
          </a:xfrm>
          <a:prstGeom prst="rect">
            <a:avLst/>
          </a:prstGeom>
          <a:noFill/>
        </p:spPr>
        <p:txBody>
          <a:bodyPr wrap="square">
            <a:spAutoFit/>
          </a:bodyPr>
          <a:lstStyle/>
          <a:p>
            <a:pPr lvl="0">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College:</a:t>
            </a:r>
            <a:r>
              <a:rPr lang="en-US" sz="1200" dirty="0">
                <a:solidFill>
                  <a:srgbClr val="000000"/>
                </a:solidFill>
                <a:latin typeface="Arial"/>
              </a:rPr>
              <a:t> National Institute of Technology Karnataka, </a:t>
            </a:r>
            <a:r>
              <a:rPr lang="en-US" sz="1200" dirty="0" err="1">
                <a:solidFill>
                  <a:srgbClr val="000000"/>
                </a:solidFill>
                <a:latin typeface="Arial"/>
              </a:rPr>
              <a:t>Surathkal</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Stream: Computer Science and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Year of graduation: 2028</a:t>
            </a:r>
          </a:p>
        </p:txBody>
      </p:sp>
      <p:sp>
        <p:nvSpPr>
          <p:cNvPr id="20" name="TextBox 19">
            <a:extLst>
              <a:ext uri="{FF2B5EF4-FFF2-40B4-BE49-F238E27FC236}">
                <a16:creationId xmlns:a16="http://schemas.microsoft.com/office/drawing/2014/main" id="{10AF310E-EC91-4906-9FCC-95C833C3D011}"/>
              </a:ext>
            </a:extLst>
          </p:cNvPr>
          <p:cNvSpPr txBox="1"/>
          <p:nvPr/>
        </p:nvSpPr>
        <p:spPr>
          <a:xfrm>
            <a:off x="9122721" y="3141433"/>
            <a:ext cx="2762684" cy="830997"/>
          </a:xfrm>
          <a:prstGeom prst="rect">
            <a:avLst/>
          </a:prstGeom>
          <a:noFill/>
        </p:spPr>
        <p:txBody>
          <a:bodyPr wrap="square">
            <a:spAutoFit/>
          </a:bodyPr>
          <a:lstStyle/>
          <a:p>
            <a:pPr lvl="0">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College:</a:t>
            </a:r>
            <a:r>
              <a:rPr lang="en-US" sz="1200" dirty="0">
                <a:solidFill>
                  <a:srgbClr val="000000"/>
                </a:solidFill>
                <a:latin typeface="Arial"/>
              </a:rPr>
              <a:t> National Institute of Technology Karnataka, </a:t>
            </a:r>
            <a:r>
              <a:rPr lang="en-US" sz="1200" dirty="0" err="1">
                <a:solidFill>
                  <a:srgbClr val="000000"/>
                </a:solidFill>
                <a:latin typeface="Arial"/>
              </a:rPr>
              <a:t>Surathkal</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Stream: Civil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Year of graduation: 2028</a:t>
            </a:r>
          </a:p>
        </p:txBody>
      </p:sp>
      <p:pic>
        <p:nvPicPr>
          <p:cNvPr id="5" name="Picture 4">
            <a:extLst>
              <a:ext uri="{FF2B5EF4-FFF2-40B4-BE49-F238E27FC236}">
                <a16:creationId xmlns:a16="http://schemas.microsoft.com/office/drawing/2014/main" id="{81FC2390-A6CB-0EDB-E36D-69D0FA8E53EB}"/>
              </a:ext>
            </a:extLst>
          </p:cNvPr>
          <p:cNvPicPr>
            <a:picLocks noChangeAspect="1"/>
          </p:cNvPicPr>
          <p:nvPr/>
        </p:nvPicPr>
        <p:blipFill>
          <a:blip r:embed="rId2"/>
          <a:stretch>
            <a:fillRect/>
          </a:stretch>
        </p:blipFill>
        <p:spPr>
          <a:xfrm>
            <a:off x="852718" y="4465597"/>
            <a:ext cx="1471323" cy="1471323"/>
          </a:xfrm>
          <a:prstGeom prst="rect">
            <a:avLst/>
          </a:prstGeom>
        </p:spPr>
      </p:pic>
      <p:pic>
        <p:nvPicPr>
          <p:cNvPr id="9" name="Picture 8">
            <a:extLst>
              <a:ext uri="{FF2B5EF4-FFF2-40B4-BE49-F238E27FC236}">
                <a16:creationId xmlns:a16="http://schemas.microsoft.com/office/drawing/2014/main" id="{49FDEBAC-3847-B4EF-DFAA-7A89880FD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276" y="2217447"/>
            <a:ext cx="1712205" cy="1754983"/>
          </a:xfrm>
          <a:prstGeom prst="rect">
            <a:avLst/>
          </a:prstGeom>
        </p:spPr>
      </p:pic>
      <p:pic>
        <p:nvPicPr>
          <p:cNvPr id="12" name="Picture 11">
            <a:extLst>
              <a:ext uri="{FF2B5EF4-FFF2-40B4-BE49-F238E27FC236}">
                <a16:creationId xmlns:a16="http://schemas.microsoft.com/office/drawing/2014/main" id="{4ED66517-1994-D8AE-839E-A4434029B0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1675" y="2241048"/>
            <a:ext cx="1552590" cy="1999548"/>
          </a:xfrm>
          <a:prstGeom prst="rect">
            <a:avLst/>
          </a:prstGeom>
        </p:spPr>
      </p:pic>
    </p:spTree>
    <p:extLst>
      <p:ext uri="{BB962C8B-B14F-4D97-AF65-F5344CB8AC3E}">
        <p14:creationId xmlns:p14="http://schemas.microsoft.com/office/powerpoint/2010/main" val="2959471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Arial"/>
              </a:rPr>
              <a:t>Thank you</a:t>
            </a:r>
          </a:p>
        </p:txBody>
      </p:sp>
      <p:sp>
        <p:nvSpPr>
          <p:cNvPr id="3" name="Rectangle 2"/>
          <p:cNvSpPr/>
          <p:nvPr/>
        </p:nvSpPr>
        <p:spPr>
          <a:xfrm>
            <a:off x="1188720" y="4626864"/>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88720" y="4846320"/>
            <a:ext cx="8229600" cy="502920"/>
          </a:xfrm>
          <a:prstGeom prst="rect">
            <a:avLst/>
          </a:prstGeom>
          <a:noFill/>
        </p:spPr>
        <p:txBody>
          <a:bodyPr wrap="square" lIns="0" tIns="0" rIns="0" bIns="0">
            <a:spAutoFit/>
          </a:bodyPr>
          <a:lstStyle/>
          <a:p>
            <a:pPr algn="l">
              <a:lnSpc>
                <a:spcPct val="100000"/>
              </a:lnSpc>
              <a:spcBef>
                <a:spcPts val="0"/>
              </a:spcBef>
              <a:spcAft>
                <a:spcPts val="0"/>
              </a:spcAft>
            </a:pPr>
            <a:r>
              <a:rPr sz="3000" b="1" spc="450">
                <a:solidFill>
                  <a:srgbClr val="05F2DB"/>
                </a:solidFill>
                <a:latin typeface="Arial"/>
              </a:rPr>
              <a:t>VOUCH</a:t>
            </a:r>
          </a:p>
        </p:txBody>
      </p:sp>
      <p:sp>
        <p:nvSpPr>
          <p:cNvPr id="5" name="TextBox 4"/>
          <p:cNvSpPr txBox="1"/>
          <p:nvPr/>
        </p:nvSpPr>
        <p:spPr>
          <a:xfrm>
            <a:off x="1188720" y="5449824"/>
            <a:ext cx="8778240" cy="566928"/>
          </a:xfrm>
          <a:prstGeom prst="rect">
            <a:avLst/>
          </a:prstGeom>
          <a:noFill/>
        </p:spPr>
        <p:txBody>
          <a:bodyPr wrap="square" lIns="0" tIns="0" rIns="0" bIns="0">
            <a:spAutoFit/>
          </a:bodyPr>
          <a:lstStyle/>
          <a:p>
            <a:pPr algn="l">
              <a:lnSpc>
                <a:spcPct val="130000"/>
              </a:lnSpc>
              <a:spcBef>
                <a:spcPts val="0"/>
              </a:spcBef>
              <a:spcAft>
                <a:spcPts val="0"/>
              </a:spcAft>
            </a:pPr>
            <a:r>
              <a:rPr sz="1300" b="0">
                <a:solidFill>
                  <a:srgbClr val="FFFFFF"/>
                </a:solidFill>
                <a:latin typeface="Arial"/>
              </a:rPr>
              <a:t>Our build of ControlPlane.ai.  To vouch for someone is to put your name behind what they are about to do. This does it action by action, on evidence.</a:t>
            </a:r>
          </a:p>
        </p:txBody>
      </p:sp>
    </p:spTree>
    <p:extLst>
      <p:ext uri="{BB962C8B-B14F-4D97-AF65-F5344CB8AC3E}">
        <p14:creationId xmlns:p14="http://schemas.microsoft.com/office/powerpoint/2010/main" val="1583931614"/>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EXECUTIVE SUMMARY</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Autonomy should be earned, not granted.</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874519"/>
            <a:ext cx="7315200" cy="914400"/>
          </a:xfrm>
          <a:prstGeom prst="rect">
            <a:avLst/>
          </a:prstGeom>
          <a:noFill/>
        </p:spPr>
        <p:txBody>
          <a:bodyPr wrap="square" lIns="0" rIns="0" tIns="0" bIns="0">
            <a:spAutoFit/>
          </a:bodyPr>
          <a:lstStyle/>
          <a:p>
            <a:pPr algn="l">
              <a:lnSpc>
                <a:spcPct val="135000"/>
              </a:lnSpc>
              <a:spcBef>
                <a:spcPts val="0"/>
              </a:spcBef>
              <a:spcAft>
                <a:spcPts val="0"/>
              </a:spcAft>
            </a:pPr>
            <a:r>
              <a:rPr sz="1300" b="0">
                <a:solidFill>
                  <a:srgbClr val="1A1A1A"/>
                </a:solidFill>
                <a:latin typeface="Arial"/>
              </a:rPr>
              <a:t>An enterprise deploying AI agents today chooses between two costly options. Grant broad authority and absorb whatever goes wrong. Or place a person in front of every action and lose the speed the automation was bought for.</a:t>
            </a:r>
          </a:p>
        </p:txBody>
      </p:sp>
      <p:sp>
        <p:nvSpPr>
          <p:cNvPr id="6" name="TextBox 5"/>
          <p:cNvSpPr txBox="1"/>
          <p:nvPr/>
        </p:nvSpPr>
        <p:spPr>
          <a:xfrm>
            <a:off x="502920" y="2788920"/>
            <a:ext cx="7315200" cy="914400"/>
          </a:xfrm>
          <a:prstGeom prst="rect">
            <a:avLst/>
          </a:prstGeom>
          <a:noFill/>
        </p:spPr>
        <p:txBody>
          <a:bodyPr wrap="square" lIns="0" rIns="0" tIns="0" bIns="0">
            <a:spAutoFit/>
          </a:bodyPr>
          <a:lstStyle/>
          <a:p>
            <a:pPr algn="l">
              <a:lnSpc>
                <a:spcPct val="135000"/>
              </a:lnSpc>
              <a:spcBef>
                <a:spcPts val="0"/>
              </a:spcBef>
              <a:spcAft>
                <a:spcPts val="0"/>
              </a:spcAft>
            </a:pPr>
            <a:r>
              <a:rPr sz="1300" b="0">
                <a:solidFill>
                  <a:srgbClr val="1A1A1A"/>
                </a:solidFill>
                <a:latin typeface="Arial"/>
              </a:rPr>
              <a:t>Vouch is a third option. It estimates how likely each AI response is to be wrong, weighs that against what the proposed action would cost if it were wrong, and releases only what the agent's own measured record supports.</a:t>
            </a:r>
          </a:p>
        </p:txBody>
      </p:sp>
      <p:sp>
        <p:nvSpPr>
          <p:cNvPr id="7" name="Rounded Rectangle 6"/>
          <p:cNvSpPr/>
          <p:nvPr/>
        </p:nvSpPr>
        <p:spPr>
          <a:xfrm>
            <a:off x="8366760" y="1783080"/>
            <a:ext cx="3337560" cy="1783080"/>
          </a:xfrm>
          <a:prstGeom prst="roundRect">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2011680"/>
            <a:ext cx="2834640" cy="731520"/>
          </a:xfrm>
          <a:prstGeom prst="rect">
            <a:avLst/>
          </a:prstGeom>
          <a:noFill/>
        </p:spPr>
        <p:txBody>
          <a:bodyPr wrap="square" lIns="0" rIns="0" tIns="0" bIns="0">
            <a:spAutoFit/>
          </a:bodyPr>
          <a:lstStyle/>
          <a:p>
            <a:pPr algn="l">
              <a:lnSpc>
                <a:spcPct val="100000"/>
              </a:lnSpc>
              <a:spcBef>
                <a:spcPts val="0"/>
              </a:spcBef>
              <a:spcAft>
                <a:spcPts val="0"/>
              </a:spcAft>
            </a:pPr>
            <a:r>
              <a:rPr sz="4000" b="1">
                <a:solidFill>
                  <a:srgbClr val="7400C0"/>
                </a:solidFill>
                <a:latin typeface="Arial"/>
              </a:rPr>
              <a:t>79.4%</a:t>
            </a:r>
          </a:p>
        </p:txBody>
      </p:sp>
      <p:sp>
        <p:nvSpPr>
          <p:cNvPr id="9" name="TextBox 8"/>
          <p:cNvSpPr txBox="1"/>
          <p:nvPr/>
        </p:nvSpPr>
        <p:spPr>
          <a:xfrm>
            <a:off x="8641080" y="2761488"/>
            <a:ext cx="2788920" cy="640080"/>
          </a:xfrm>
          <a:prstGeom prst="rect">
            <a:avLst/>
          </a:prstGeom>
          <a:noFill/>
        </p:spPr>
        <p:txBody>
          <a:bodyPr wrap="square" lIns="0" rIns="0" tIns="0" bIns="0">
            <a:spAutoFit/>
          </a:bodyPr>
          <a:lstStyle/>
          <a:p>
            <a:pPr algn="l">
              <a:lnSpc>
                <a:spcPct val="125000"/>
              </a:lnSpc>
              <a:spcBef>
                <a:spcPts val="0"/>
              </a:spcBef>
              <a:spcAft>
                <a:spcPts val="0"/>
              </a:spcAft>
            </a:pPr>
            <a:r>
              <a:rPr sz="1100" b="0">
                <a:solidFill>
                  <a:srgbClr val="1A1A1A"/>
                </a:solidFill>
                <a:latin typeface="Arial"/>
              </a:rPr>
              <a:t>of AI responses were approved with no human involvement</a:t>
            </a:r>
          </a:p>
        </p:txBody>
      </p:sp>
      <p:sp>
        <p:nvSpPr>
          <p:cNvPr id="10" name="Rectangle 9"/>
          <p:cNvSpPr/>
          <p:nvPr/>
        </p:nvSpPr>
        <p:spPr>
          <a:xfrm>
            <a:off x="502920" y="3977639"/>
            <a:ext cx="11201400" cy="10972"/>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2920" y="4206240"/>
            <a:ext cx="3566160" cy="548640"/>
          </a:xfrm>
          <a:prstGeom prst="rect">
            <a:avLst/>
          </a:prstGeom>
          <a:noFill/>
        </p:spPr>
        <p:txBody>
          <a:bodyPr wrap="square" lIns="0" rIns="0" tIns="0" bIns="0">
            <a:spAutoFit/>
          </a:bodyPr>
          <a:lstStyle/>
          <a:p>
            <a:pPr algn="l">
              <a:lnSpc>
                <a:spcPct val="100000"/>
              </a:lnSpc>
              <a:spcBef>
                <a:spcPts val="0"/>
              </a:spcBef>
              <a:spcAft>
                <a:spcPts val="0"/>
              </a:spcAft>
            </a:pPr>
            <a:r>
              <a:rPr sz="3000" b="1">
                <a:solidFill>
                  <a:srgbClr val="036B62"/>
                </a:solidFill>
                <a:latin typeface="Arial"/>
              </a:rPr>
              <a:t>0</a:t>
            </a:r>
          </a:p>
        </p:txBody>
      </p:sp>
      <p:sp>
        <p:nvSpPr>
          <p:cNvPr id="12" name="TextBox 11"/>
          <p:cNvSpPr txBox="1"/>
          <p:nvPr/>
        </p:nvSpPr>
        <p:spPr>
          <a:xfrm>
            <a:off x="502920" y="4754880"/>
            <a:ext cx="3429000" cy="457200"/>
          </a:xfrm>
          <a:prstGeom prst="rect">
            <a:avLst/>
          </a:prstGeom>
          <a:noFill/>
        </p:spPr>
        <p:txBody>
          <a:bodyPr wrap="square" lIns="0" rIns="0" tIns="0" bIns="0">
            <a:spAutoFit/>
          </a:bodyPr>
          <a:lstStyle/>
          <a:p>
            <a:pPr algn="l">
              <a:lnSpc>
                <a:spcPct val="120000"/>
              </a:lnSpc>
              <a:spcBef>
                <a:spcPts val="0"/>
              </a:spcBef>
              <a:spcAft>
                <a:spcPts val="0"/>
              </a:spcAft>
            </a:pPr>
            <a:r>
              <a:rPr sz="1200" b="1">
                <a:solidFill>
                  <a:srgbClr val="1A1A1A"/>
                </a:solidFill>
                <a:latin typeface="Arial"/>
              </a:rPr>
              <a:t>incorrect refunds reached a customer</a:t>
            </a:r>
          </a:p>
        </p:txBody>
      </p:sp>
      <p:sp>
        <p:nvSpPr>
          <p:cNvPr id="13" name="TextBox 12"/>
          <p:cNvSpPr txBox="1"/>
          <p:nvPr/>
        </p:nvSpPr>
        <p:spPr>
          <a:xfrm>
            <a:off x="502920" y="5230368"/>
            <a:ext cx="3429000" cy="54864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A5A5A"/>
                </a:solidFill>
                <a:latin typeface="Arial"/>
              </a:rPr>
              <a:t>Measured across every response the system released on its own</a:t>
            </a:r>
          </a:p>
        </p:txBody>
      </p:sp>
      <p:sp>
        <p:nvSpPr>
          <p:cNvPr id="14" name="TextBox 13"/>
          <p:cNvSpPr txBox="1"/>
          <p:nvPr/>
        </p:nvSpPr>
        <p:spPr>
          <a:xfrm>
            <a:off x="4297680" y="4206240"/>
            <a:ext cx="3566160" cy="548640"/>
          </a:xfrm>
          <a:prstGeom prst="rect">
            <a:avLst/>
          </a:prstGeom>
          <a:noFill/>
        </p:spPr>
        <p:txBody>
          <a:bodyPr wrap="square" lIns="0" rIns="0" tIns="0" bIns="0">
            <a:spAutoFit/>
          </a:bodyPr>
          <a:lstStyle/>
          <a:p>
            <a:pPr algn="l">
              <a:lnSpc>
                <a:spcPct val="100000"/>
              </a:lnSpc>
              <a:spcBef>
                <a:spcPts val="0"/>
              </a:spcBef>
              <a:spcAft>
                <a:spcPts val="0"/>
              </a:spcAft>
            </a:pPr>
            <a:r>
              <a:rPr sz="3000" b="1">
                <a:solidFill>
                  <a:srgbClr val="1A1A1A"/>
                </a:solidFill>
                <a:latin typeface="Arial"/>
              </a:rPr>
              <a:t>35 ms</a:t>
            </a:r>
          </a:p>
        </p:txBody>
      </p:sp>
      <p:sp>
        <p:nvSpPr>
          <p:cNvPr id="15" name="TextBox 14"/>
          <p:cNvSpPr txBox="1"/>
          <p:nvPr/>
        </p:nvSpPr>
        <p:spPr>
          <a:xfrm>
            <a:off x="4297680" y="4754880"/>
            <a:ext cx="3429000" cy="457200"/>
          </a:xfrm>
          <a:prstGeom prst="rect">
            <a:avLst/>
          </a:prstGeom>
          <a:noFill/>
        </p:spPr>
        <p:txBody>
          <a:bodyPr wrap="square" lIns="0" rIns="0" tIns="0" bIns="0">
            <a:spAutoFit/>
          </a:bodyPr>
          <a:lstStyle/>
          <a:p>
            <a:pPr algn="l">
              <a:lnSpc>
                <a:spcPct val="120000"/>
              </a:lnSpc>
              <a:spcBef>
                <a:spcPts val="0"/>
              </a:spcBef>
              <a:spcAft>
                <a:spcPts val="0"/>
              </a:spcAft>
            </a:pPr>
            <a:r>
              <a:rPr sz="1200" b="1">
                <a:solidFill>
                  <a:srgbClr val="1A1A1A"/>
                </a:solidFill>
                <a:latin typeface="Arial"/>
              </a:rPr>
              <a:t>added to each response</a:t>
            </a:r>
          </a:p>
        </p:txBody>
      </p:sp>
      <p:sp>
        <p:nvSpPr>
          <p:cNvPr id="16" name="TextBox 15"/>
          <p:cNvSpPr txBox="1"/>
          <p:nvPr/>
        </p:nvSpPr>
        <p:spPr>
          <a:xfrm>
            <a:off x="4297680" y="5230368"/>
            <a:ext cx="3429000" cy="54864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A5A5A"/>
                </a:solidFill>
                <a:latin typeface="Arial"/>
              </a:rPr>
              <a:t>About a tenth of the time it takes to blink. The check is not felt</a:t>
            </a:r>
          </a:p>
        </p:txBody>
      </p:sp>
      <p:sp>
        <p:nvSpPr>
          <p:cNvPr id="17" name="TextBox 16"/>
          <p:cNvSpPr txBox="1"/>
          <p:nvPr/>
        </p:nvSpPr>
        <p:spPr>
          <a:xfrm>
            <a:off x="8092440" y="4206240"/>
            <a:ext cx="3566160" cy="548640"/>
          </a:xfrm>
          <a:prstGeom prst="rect">
            <a:avLst/>
          </a:prstGeom>
          <a:noFill/>
        </p:spPr>
        <p:txBody>
          <a:bodyPr wrap="square" lIns="0" rIns="0" tIns="0" bIns="0">
            <a:spAutoFit/>
          </a:bodyPr>
          <a:lstStyle/>
          <a:p>
            <a:pPr algn="l">
              <a:lnSpc>
                <a:spcPct val="100000"/>
              </a:lnSpc>
              <a:spcBef>
                <a:spcPts val="0"/>
              </a:spcBef>
              <a:spcAft>
                <a:spcPts val="0"/>
              </a:spcAft>
            </a:pPr>
            <a:r>
              <a:rPr sz="3000" b="1">
                <a:solidFill>
                  <a:srgbClr val="7400C0"/>
                </a:solidFill>
                <a:latin typeface="Arial"/>
              </a:rPr>
              <a:t>1,466</a:t>
            </a:r>
          </a:p>
        </p:txBody>
      </p:sp>
      <p:sp>
        <p:nvSpPr>
          <p:cNvPr id="18" name="TextBox 17"/>
          <p:cNvSpPr txBox="1"/>
          <p:nvPr/>
        </p:nvSpPr>
        <p:spPr>
          <a:xfrm>
            <a:off x="8092440" y="4754880"/>
            <a:ext cx="3429000" cy="457200"/>
          </a:xfrm>
          <a:prstGeom prst="rect">
            <a:avLst/>
          </a:prstGeom>
          <a:noFill/>
        </p:spPr>
        <p:txBody>
          <a:bodyPr wrap="square" lIns="0" rIns="0" tIns="0" bIns="0">
            <a:spAutoFit/>
          </a:bodyPr>
          <a:lstStyle/>
          <a:p>
            <a:pPr algn="l">
              <a:lnSpc>
                <a:spcPct val="120000"/>
              </a:lnSpc>
              <a:spcBef>
                <a:spcPts val="0"/>
              </a:spcBef>
              <a:spcAft>
                <a:spcPts val="0"/>
              </a:spcAft>
            </a:pPr>
            <a:r>
              <a:rPr sz="1200" b="1">
                <a:solidFill>
                  <a:srgbClr val="1A1A1A"/>
                </a:solidFill>
                <a:latin typeface="Arial"/>
              </a:rPr>
              <a:t>live AI responses evaluated</a:t>
            </a:r>
          </a:p>
        </p:txBody>
      </p:sp>
      <p:sp>
        <p:nvSpPr>
          <p:cNvPr id="19" name="TextBox 18"/>
          <p:cNvSpPr txBox="1"/>
          <p:nvPr/>
        </p:nvSpPr>
        <p:spPr>
          <a:xfrm>
            <a:off x="8092440" y="5230368"/>
            <a:ext cx="3429000" cy="54864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A5A5A"/>
                </a:solidFill>
                <a:latin typeface="Arial"/>
              </a:rPr>
              <a:t>Generated by a production model, then scored and routed end to end</a:t>
            </a:r>
          </a:p>
        </p:txBody>
      </p:sp>
      <p:sp>
        <p:nvSpPr>
          <p:cNvPr id="20" name="TextBox 19"/>
          <p:cNvSpPr txBox="1"/>
          <p:nvPr/>
        </p:nvSpPr>
        <p:spPr>
          <a:xfrm>
            <a:off x="502920" y="6053328"/>
            <a:ext cx="11201400" cy="365760"/>
          </a:xfrm>
          <a:prstGeom prst="rect">
            <a:avLst/>
          </a:prstGeom>
          <a:noFill/>
        </p:spPr>
        <p:txBody>
          <a:bodyPr wrap="square" lIns="0" rIns="0" tIns="0" bIns="0">
            <a:spAutoFit/>
          </a:bodyPr>
          <a:lstStyle/>
          <a:p>
            <a:pPr algn="l">
              <a:lnSpc>
                <a:spcPct val="120000"/>
              </a:lnSpc>
              <a:spcBef>
                <a:spcPts val="0"/>
              </a:spcBef>
              <a:spcAft>
                <a:spcPts val="0"/>
              </a:spcAft>
            </a:pPr>
            <a:r>
              <a:rPr sz="1300" b="1">
                <a:solidFill>
                  <a:srgbClr val="7400C0"/>
                </a:solidFill>
                <a:latin typeface="Arial"/>
              </a:rPr>
              <a:t>One control layer. Three outcomes: release it, verify it further, or hand it to a person.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THE PROBLEM</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A confident answer is not a verified one.</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874519"/>
            <a:ext cx="6949440" cy="1280160"/>
          </a:xfrm>
          <a:prstGeom prst="rect">
            <a:avLst/>
          </a:prstGeom>
          <a:noFill/>
        </p:spPr>
        <p:txBody>
          <a:bodyPr wrap="square" lIns="0" rIns="0" tIns="0" bIns="0">
            <a:spAutoFit/>
          </a:bodyPr>
          <a:lstStyle/>
          <a:p>
            <a:pPr algn="l">
              <a:lnSpc>
                <a:spcPct val="140000"/>
              </a:lnSpc>
              <a:spcBef>
                <a:spcPts val="0"/>
              </a:spcBef>
              <a:spcAft>
                <a:spcPts val="0"/>
              </a:spcAft>
            </a:pPr>
            <a:r>
              <a:rPr sz="1300" b="0">
                <a:solidFill>
                  <a:srgbClr val="5A5A5A"/>
                </a:solidFill>
                <a:latin typeface="Arial"/>
              </a:rPr>
              <a:t>Generative AI produces text that reads as authoritative whether or not it is correct. That is tolerable while the output is only text on a screen. It stops being tolerable the moment a workflow acts on it: money moves, personal data crosses a boundary, or a person makes a decision on the strength of it.</a:t>
            </a:r>
          </a:p>
        </p:txBody>
      </p:sp>
      <p:sp>
        <p:nvSpPr>
          <p:cNvPr id="6" name="Rounded Rectangle 5"/>
          <p:cNvSpPr/>
          <p:nvPr/>
        </p:nvSpPr>
        <p:spPr>
          <a:xfrm>
            <a:off x="7863840" y="1783080"/>
            <a:ext cx="3840480" cy="1234440"/>
          </a:xfrm>
          <a:prstGeom prst="roundRect">
            <a:avLst/>
          </a:prstGeom>
          <a:solidFill>
            <a:srgbClr val="FF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38160" y="1965960"/>
            <a:ext cx="329184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A31F57"/>
                </a:solidFill>
                <a:latin typeface="Arial"/>
              </a:rPr>
              <a:t>THE OPERATING TENSION</a:t>
            </a:r>
          </a:p>
        </p:txBody>
      </p:sp>
      <p:sp>
        <p:nvSpPr>
          <p:cNvPr id="8" name="TextBox 7"/>
          <p:cNvSpPr txBox="1"/>
          <p:nvPr/>
        </p:nvSpPr>
        <p:spPr>
          <a:xfrm>
            <a:off x="8138160" y="2240280"/>
            <a:ext cx="3291840" cy="640080"/>
          </a:xfrm>
          <a:prstGeom prst="rect">
            <a:avLst/>
          </a:prstGeom>
          <a:noFill/>
        </p:spPr>
        <p:txBody>
          <a:bodyPr wrap="square" lIns="0" rIns="0" tIns="0" bIns="0">
            <a:spAutoFit/>
          </a:bodyPr>
          <a:lstStyle/>
          <a:p>
            <a:pPr algn="l">
              <a:lnSpc>
                <a:spcPct val="125000"/>
              </a:lnSpc>
              <a:spcBef>
                <a:spcPts val="0"/>
              </a:spcBef>
              <a:spcAft>
                <a:spcPts val="0"/>
              </a:spcAft>
            </a:pPr>
            <a:r>
              <a:rPr sz="1250" b="1">
                <a:solidFill>
                  <a:srgbClr val="1A1A1A"/>
                </a:solidFill>
                <a:latin typeface="Arial"/>
              </a:rPr>
              <a:t>Move faster, but only as far as the evidence reaches.</a:t>
            </a:r>
          </a:p>
        </p:txBody>
      </p:sp>
      <p:sp>
        <p:nvSpPr>
          <p:cNvPr id="9" name="TextBox 8"/>
          <p:cNvSpPr txBox="1"/>
          <p:nvPr/>
        </p:nvSpPr>
        <p:spPr>
          <a:xfrm>
            <a:off x="502920" y="3429000"/>
            <a:ext cx="5486400" cy="365760"/>
          </a:xfrm>
          <a:prstGeom prst="rect">
            <a:avLst/>
          </a:prstGeom>
          <a:noFill/>
        </p:spPr>
        <p:txBody>
          <a:bodyPr wrap="square" lIns="0" rIns="0" tIns="0" bIns="0">
            <a:spAutoFit/>
          </a:bodyPr>
          <a:lstStyle/>
          <a:p>
            <a:pPr algn="l">
              <a:lnSpc>
                <a:spcPct val="125000"/>
              </a:lnSpc>
              <a:spcBef>
                <a:spcPts val="0"/>
              </a:spcBef>
              <a:spcAft>
                <a:spcPts val="0"/>
              </a:spcAft>
            </a:pPr>
            <a:r>
              <a:rPr sz="900" b="1">
                <a:solidFill>
                  <a:srgbClr val="5A5A5A"/>
                </a:solidFill>
                <a:latin typeface="Arial"/>
              </a:rPr>
              <a:t>FOUR PEOPLE CARRY THE CONSEQUENCES</a:t>
            </a:r>
          </a:p>
        </p:txBody>
      </p:sp>
      <p:sp>
        <p:nvSpPr>
          <p:cNvPr id="10" name="Rounded Rectangle 9"/>
          <p:cNvSpPr/>
          <p:nvPr/>
        </p:nvSpPr>
        <p:spPr>
          <a:xfrm>
            <a:off x="502920" y="3794760"/>
            <a:ext cx="274320" cy="274320"/>
          </a:xfrm>
          <a:prstGeom prst="round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000" b="1">
                <a:solidFill>
                  <a:srgbClr val="FFFFFF"/>
                </a:solidFill>
                <a:latin typeface="Arial"/>
              </a:rPr>
              <a:t>1</a:t>
            </a:r>
          </a:p>
        </p:txBody>
      </p:sp>
      <p:sp>
        <p:nvSpPr>
          <p:cNvPr id="11" name="TextBox 10"/>
          <p:cNvSpPr txBox="1"/>
          <p:nvPr/>
        </p:nvSpPr>
        <p:spPr>
          <a:xfrm>
            <a:off x="914400" y="3822192"/>
            <a:ext cx="2743200" cy="365760"/>
          </a:xfrm>
          <a:prstGeom prst="rect">
            <a:avLst/>
          </a:prstGeom>
          <a:noFill/>
        </p:spPr>
        <p:txBody>
          <a:bodyPr wrap="square" lIns="0" rIns="0" tIns="0" bIns="0">
            <a:spAutoFit/>
          </a:bodyPr>
          <a:lstStyle/>
          <a:p>
            <a:pPr algn="l">
              <a:lnSpc>
                <a:spcPct val="110000"/>
              </a:lnSpc>
              <a:spcBef>
                <a:spcPts val="0"/>
              </a:spcBef>
              <a:spcAft>
                <a:spcPts val="0"/>
              </a:spcAft>
            </a:pPr>
            <a:r>
              <a:rPr sz="1300" b="1">
                <a:solidFill>
                  <a:srgbClr val="1A1A1A"/>
                </a:solidFill>
                <a:latin typeface="Arial"/>
              </a:rPr>
              <a:t>AI platform owner</a:t>
            </a:r>
          </a:p>
        </p:txBody>
      </p:sp>
      <p:sp>
        <p:nvSpPr>
          <p:cNvPr id="12" name="TextBox 11"/>
          <p:cNvSpPr txBox="1"/>
          <p:nvPr/>
        </p:nvSpPr>
        <p:spPr>
          <a:xfrm>
            <a:off x="3566160" y="3831336"/>
            <a:ext cx="8138160" cy="36576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One place to connect, whatever model sits behind it.</a:t>
            </a:r>
          </a:p>
        </p:txBody>
      </p:sp>
      <p:sp>
        <p:nvSpPr>
          <p:cNvPr id="13" name="Rectangle 12"/>
          <p:cNvSpPr/>
          <p:nvPr/>
        </p:nvSpPr>
        <p:spPr>
          <a:xfrm>
            <a:off x="914400" y="4197096"/>
            <a:ext cx="1078992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02920" y="4361688"/>
            <a:ext cx="274320" cy="274320"/>
          </a:xfrm>
          <a:prstGeom prst="round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000" b="1">
                <a:solidFill>
                  <a:srgbClr val="FFFFFF"/>
                </a:solidFill>
                <a:latin typeface="Arial"/>
              </a:rPr>
              <a:t>2</a:t>
            </a:r>
          </a:p>
        </p:txBody>
      </p:sp>
      <p:sp>
        <p:nvSpPr>
          <p:cNvPr id="15" name="TextBox 14"/>
          <p:cNvSpPr txBox="1"/>
          <p:nvPr/>
        </p:nvSpPr>
        <p:spPr>
          <a:xfrm>
            <a:off x="914400" y="4389120"/>
            <a:ext cx="2743200" cy="365760"/>
          </a:xfrm>
          <a:prstGeom prst="rect">
            <a:avLst/>
          </a:prstGeom>
          <a:noFill/>
        </p:spPr>
        <p:txBody>
          <a:bodyPr wrap="square" lIns="0" rIns="0" tIns="0" bIns="0">
            <a:spAutoFit/>
          </a:bodyPr>
          <a:lstStyle/>
          <a:p>
            <a:pPr algn="l">
              <a:lnSpc>
                <a:spcPct val="110000"/>
              </a:lnSpc>
              <a:spcBef>
                <a:spcPts val="0"/>
              </a:spcBef>
              <a:spcAft>
                <a:spcPts val="0"/>
              </a:spcAft>
            </a:pPr>
            <a:r>
              <a:rPr sz="1300" b="1">
                <a:solidFill>
                  <a:srgbClr val="1A1A1A"/>
                </a:solidFill>
                <a:latin typeface="Arial"/>
              </a:rPr>
              <a:t>Operations owner</a:t>
            </a:r>
          </a:p>
        </p:txBody>
      </p:sp>
      <p:sp>
        <p:nvSpPr>
          <p:cNvPr id="16" name="TextBox 15"/>
          <p:cNvSpPr txBox="1"/>
          <p:nvPr/>
        </p:nvSpPr>
        <p:spPr>
          <a:xfrm>
            <a:off x="3566160" y="4398264"/>
            <a:ext cx="8138160" cy="36576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More cases resolved without a queue, and a cap on the downside.</a:t>
            </a:r>
          </a:p>
        </p:txBody>
      </p:sp>
      <p:sp>
        <p:nvSpPr>
          <p:cNvPr id="17" name="Rectangle 16"/>
          <p:cNvSpPr/>
          <p:nvPr/>
        </p:nvSpPr>
        <p:spPr>
          <a:xfrm>
            <a:off x="914400" y="4764024"/>
            <a:ext cx="1078992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02920" y="4928616"/>
            <a:ext cx="274320" cy="274320"/>
          </a:xfrm>
          <a:prstGeom prst="roundRect">
            <a:avLst/>
          </a:prstGeom>
          <a:solidFill>
            <a:srgbClr val="036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000" b="1">
                <a:solidFill>
                  <a:srgbClr val="FFFFFF"/>
                </a:solidFill>
                <a:latin typeface="Arial"/>
              </a:rPr>
              <a:t>3</a:t>
            </a:r>
          </a:p>
        </p:txBody>
      </p:sp>
      <p:sp>
        <p:nvSpPr>
          <p:cNvPr id="19" name="TextBox 18"/>
          <p:cNvSpPr txBox="1"/>
          <p:nvPr/>
        </p:nvSpPr>
        <p:spPr>
          <a:xfrm>
            <a:off x="914400" y="4956048"/>
            <a:ext cx="2743200" cy="365760"/>
          </a:xfrm>
          <a:prstGeom prst="rect">
            <a:avLst/>
          </a:prstGeom>
          <a:noFill/>
        </p:spPr>
        <p:txBody>
          <a:bodyPr wrap="square" lIns="0" rIns="0" tIns="0" bIns="0">
            <a:spAutoFit/>
          </a:bodyPr>
          <a:lstStyle/>
          <a:p>
            <a:pPr algn="l">
              <a:lnSpc>
                <a:spcPct val="110000"/>
              </a:lnSpc>
              <a:spcBef>
                <a:spcPts val="0"/>
              </a:spcBef>
              <a:spcAft>
                <a:spcPts val="0"/>
              </a:spcAft>
            </a:pPr>
            <a:r>
              <a:rPr sz="1300" b="1">
                <a:solidFill>
                  <a:srgbClr val="1A1A1A"/>
                </a:solidFill>
                <a:latin typeface="Arial"/>
              </a:rPr>
              <a:t>Risk and compliance</a:t>
            </a:r>
          </a:p>
        </p:txBody>
      </p:sp>
      <p:sp>
        <p:nvSpPr>
          <p:cNvPr id="20" name="TextBox 19"/>
          <p:cNvSpPr txBox="1"/>
          <p:nvPr/>
        </p:nvSpPr>
        <p:spPr>
          <a:xfrm>
            <a:off x="3566160" y="4965192"/>
            <a:ext cx="8138160" cy="36576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Boundaries that hold, policy that varies by region, a record for every call.</a:t>
            </a:r>
          </a:p>
        </p:txBody>
      </p:sp>
      <p:sp>
        <p:nvSpPr>
          <p:cNvPr id="21" name="Rectangle 20"/>
          <p:cNvSpPr/>
          <p:nvPr/>
        </p:nvSpPr>
        <p:spPr>
          <a:xfrm>
            <a:off x="914400" y="5330952"/>
            <a:ext cx="1078992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502920" y="5495544"/>
            <a:ext cx="274320" cy="274320"/>
          </a:xfrm>
          <a:prstGeom prst="roundRect">
            <a:avLst/>
          </a:prstGeom>
          <a:solidFill>
            <a:srgbClr val="036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000" b="1">
                <a:solidFill>
                  <a:srgbClr val="FFFFFF"/>
                </a:solidFill>
                <a:latin typeface="Arial"/>
              </a:rPr>
              <a:t>4</a:t>
            </a:r>
          </a:p>
        </p:txBody>
      </p:sp>
      <p:sp>
        <p:nvSpPr>
          <p:cNvPr id="23" name="TextBox 22"/>
          <p:cNvSpPr txBox="1"/>
          <p:nvPr/>
        </p:nvSpPr>
        <p:spPr>
          <a:xfrm>
            <a:off x="914400" y="5522976"/>
            <a:ext cx="2743200" cy="365760"/>
          </a:xfrm>
          <a:prstGeom prst="rect">
            <a:avLst/>
          </a:prstGeom>
          <a:noFill/>
        </p:spPr>
        <p:txBody>
          <a:bodyPr wrap="square" lIns="0" rIns="0" tIns="0" bIns="0">
            <a:spAutoFit/>
          </a:bodyPr>
          <a:lstStyle/>
          <a:p>
            <a:pPr algn="l">
              <a:lnSpc>
                <a:spcPct val="110000"/>
              </a:lnSpc>
              <a:spcBef>
                <a:spcPts val="0"/>
              </a:spcBef>
              <a:spcAft>
                <a:spcPts val="0"/>
              </a:spcAft>
            </a:pPr>
            <a:r>
              <a:rPr sz="1300" b="1">
                <a:solidFill>
                  <a:srgbClr val="1A1A1A"/>
                </a:solidFill>
                <a:latin typeface="Arial"/>
              </a:rPr>
              <a:t>Human reviewer</a:t>
            </a:r>
          </a:p>
        </p:txBody>
      </p:sp>
      <p:sp>
        <p:nvSpPr>
          <p:cNvPr id="24" name="TextBox 23"/>
          <p:cNvSpPr txBox="1"/>
          <p:nvPr/>
        </p:nvSpPr>
        <p:spPr>
          <a:xfrm>
            <a:off x="3566160" y="5532120"/>
            <a:ext cx="8138160" cy="36576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The reply, the evidence, the action and the reason, on one screen.</a:t>
            </a:r>
          </a:p>
        </p:txBody>
      </p:sp>
      <p:sp>
        <p:nvSpPr>
          <p:cNvPr id="25" name="Rectangle 24"/>
          <p:cNvSpPr/>
          <p:nvPr/>
        </p:nvSpPr>
        <p:spPr>
          <a:xfrm>
            <a:off x="914400" y="5897880"/>
            <a:ext cx="1078992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WHY GENERIC CHECKING FAILS</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No single checking rule fits every use case.</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828800"/>
            <a:ext cx="11201400" cy="36576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5A5A5A"/>
                </a:solidFill>
                <a:latin typeface="Arial"/>
              </a:rPr>
              <a:t>Each difficulty below is drawn from the brief, and each shaped a specific design decision.</a:t>
            </a:r>
          </a:p>
        </p:txBody>
      </p:sp>
      <p:sp>
        <p:nvSpPr>
          <p:cNvPr id="6" name="TextBox 5"/>
          <p:cNvSpPr txBox="1"/>
          <p:nvPr/>
        </p:nvSpPr>
        <p:spPr>
          <a:xfrm>
            <a:off x="502920" y="2240280"/>
            <a:ext cx="52120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THE REAL COMPLEXITY</a:t>
            </a:r>
          </a:p>
        </p:txBody>
      </p:sp>
      <p:sp>
        <p:nvSpPr>
          <p:cNvPr id="7" name="TextBox 6"/>
          <p:cNvSpPr txBox="1"/>
          <p:nvPr/>
        </p:nvSpPr>
        <p:spPr>
          <a:xfrm>
            <a:off x="6035040" y="2240280"/>
            <a:ext cx="557784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A000FF"/>
                </a:solidFill>
                <a:latin typeface="Arial"/>
              </a:rPr>
              <a:t>HOW VOUCH ANSWERS IT</a:t>
            </a:r>
          </a:p>
        </p:txBody>
      </p:sp>
      <p:sp>
        <p:nvSpPr>
          <p:cNvPr id="8" name="Rectangle 7"/>
          <p:cNvSpPr/>
          <p:nvPr/>
        </p:nvSpPr>
        <p:spPr>
          <a:xfrm>
            <a:off x="502920" y="2459736"/>
            <a:ext cx="11201400" cy="1280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11480" y="2551176"/>
            <a:ext cx="11384280" cy="493775"/>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 y="2624328"/>
            <a:ext cx="521208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1A1A1A"/>
                </a:solidFill>
                <a:latin typeface="Arial"/>
              </a:rPr>
              <a:t>A chatbot, an internal copilot and a decision tool carry different risk and latency budgets</a:t>
            </a:r>
          </a:p>
        </p:txBody>
      </p:sp>
      <p:sp>
        <p:nvSpPr>
          <p:cNvPr id="11" name="TextBox 10"/>
          <p:cNvSpPr txBox="1"/>
          <p:nvPr/>
        </p:nvSpPr>
        <p:spPr>
          <a:xfrm>
            <a:off x="6035040" y="2624328"/>
            <a:ext cx="557784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Policy is set for each use case while the underlying mechanism stays identical</a:t>
            </a:r>
          </a:p>
        </p:txBody>
      </p:sp>
      <p:sp>
        <p:nvSpPr>
          <p:cNvPr id="12" name="TextBox 11"/>
          <p:cNvSpPr txBox="1"/>
          <p:nvPr/>
        </p:nvSpPr>
        <p:spPr>
          <a:xfrm>
            <a:off x="502920" y="3154680"/>
            <a:ext cx="521208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1A1A1A"/>
                </a:solidFill>
                <a:latin typeface="Arial"/>
              </a:rPr>
              <a:t>Bias, hallucination and privacy overlap inside the same sentence</a:t>
            </a:r>
          </a:p>
        </p:txBody>
      </p:sp>
      <p:sp>
        <p:nvSpPr>
          <p:cNvPr id="13" name="TextBox 12"/>
          <p:cNvSpPr txBox="1"/>
          <p:nvPr/>
        </p:nvSpPr>
        <p:spPr>
          <a:xfrm>
            <a:off x="6035040" y="3154680"/>
            <a:ext cx="557784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Signals are scored side by side and priced together, not sorted into one category</a:t>
            </a:r>
          </a:p>
        </p:txBody>
      </p:sp>
      <p:sp>
        <p:nvSpPr>
          <p:cNvPr id="14" name="Rectangle 13"/>
          <p:cNvSpPr/>
          <p:nvPr/>
        </p:nvSpPr>
        <p:spPr>
          <a:xfrm>
            <a:off x="411480" y="3611880"/>
            <a:ext cx="11384280" cy="493775"/>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 y="3685032"/>
            <a:ext cx="521208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1A1A1A"/>
                </a:solidFill>
                <a:latin typeface="Arial"/>
              </a:rPr>
              <a:t>There is often no reliable real-time truth to check a claim against</a:t>
            </a:r>
          </a:p>
        </p:txBody>
      </p:sp>
      <p:sp>
        <p:nvSpPr>
          <p:cNvPr id="16" name="TextBox 15"/>
          <p:cNvSpPr txBox="1"/>
          <p:nvPr/>
        </p:nvSpPr>
        <p:spPr>
          <a:xfrm>
            <a:off x="6035040" y="3685032"/>
            <a:ext cx="557784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Checkable claims go to the systems of record; the remainder is priced as uncertainty</a:t>
            </a:r>
          </a:p>
        </p:txBody>
      </p:sp>
      <p:sp>
        <p:nvSpPr>
          <p:cNvPr id="17" name="TextBox 16"/>
          <p:cNvSpPr txBox="1"/>
          <p:nvPr/>
        </p:nvSpPr>
        <p:spPr>
          <a:xfrm>
            <a:off x="502920" y="4215384"/>
            <a:ext cx="521208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1A1A1A"/>
                </a:solidFill>
                <a:latin typeface="Arial"/>
              </a:rPr>
              <a:t>Over-flagging causes alert fatigue, under-flagging creates liability</a:t>
            </a:r>
          </a:p>
        </p:txBody>
      </p:sp>
      <p:sp>
        <p:nvSpPr>
          <p:cNvPr id="18" name="TextBox 17"/>
          <p:cNvSpPr txBox="1"/>
          <p:nvPr/>
        </p:nvSpPr>
        <p:spPr>
          <a:xfrm>
            <a:off x="6035040" y="4215384"/>
            <a:ext cx="557784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The threshold follows from the cost of being wrong rather than being chosen by hand</a:t>
            </a:r>
          </a:p>
        </p:txBody>
      </p:sp>
      <p:sp>
        <p:nvSpPr>
          <p:cNvPr id="19" name="Rectangle 18"/>
          <p:cNvSpPr/>
          <p:nvPr/>
        </p:nvSpPr>
        <p:spPr>
          <a:xfrm>
            <a:off x="411480" y="4672584"/>
            <a:ext cx="11384280" cy="493775"/>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2920" y="4745736"/>
            <a:ext cx="521208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1A1A1A"/>
                </a:solidFill>
                <a:latin typeface="Arial"/>
              </a:rPr>
              <a:t>Agents that take actions compound risk across a conversation</a:t>
            </a:r>
          </a:p>
        </p:txBody>
      </p:sp>
      <p:sp>
        <p:nvSpPr>
          <p:cNvPr id="21" name="TextBox 20"/>
          <p:cNvSpPr txBox="1"/>
          <p:nvPr/>
        </p:nvSpPr>
        <p:spPr>
          <a:xfrm>
            <a:off x="6035040" y="4745736"/>
            <a:ext cx="557784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Authority is granted per action and per value, never per conversation</a:t>
            </a:r>
          </a:p>
        </p:txBody>
      </p:sp>
      <p:sp>
        <p:nvSpPr>
          <p:cNvPr id="22" name="TextBox 21"/>
          <p:cNvSpPr txBox="1"/>
          <p:nvPr/>
        </p:nvSpPr>
        <p:spPr>
          <a:xfrm>
            <a:off x="502920" y="5276088"/>
            <a:ext cx="521208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1A1A1A"/>
                </a:solidFill>
                <a:latin typeface="Arial"/>
              </a:rPr>
              <a:t>Regulation differs by geography and continues to change</a:t>
            </a:r>
          </a:p>
        </p:txBody>
      </p:sp>
      <p:sp>
        <p:nvSpPr>
          <p:cNvPr id="23" name="TextBox 22"/>
          <p:cNvSpPr txBox="1"/>
          <p:nvPr/>
        </p:nvSpPr>
        <p:spPr>
          <a:xfrm>
            <a:off x="6035040" y="5276088"/>
            <a:ext cx="557784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Policy is configuration, and fixed limits sit outside anything that can be earned</a:t>
            </a:r>
          </a:p>
        </p:txBody>
      </p:sp>
      <p:sp>
        <p:nvSpPr>
          <p:cNvPr id="24" name="Rectangle 23"/>
          <p:cNvSpPr/>
          <p:nvPr/>
        </p:nvSpPr>
        <p:spPr>
          <a:xfrm>
            <a:off x="411480" y="5733288"/>
            <a:ext cx="11384280" cy="493775"/>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02920" y="5806440"/>
            <a:ext cx="521208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1A1A1A"/>
                </a:solidFill>
                <a:latin typeface="Arial"/>
              </a:rPr>
              <a:t>The model is consumed through an API, so its internals are closed</a:t>
            </a:r>
          </a:p>
        </p:txBody>
      </p:sp>
      <p:sp>
        <p:nvSpPr>
          <p:cNvPr id="26" name="TextBox 25"/>
          <p:cNvSpPr txBox="1"/>
          <p:nvPr/>
        </p:nvSpPr>
        <p:spPr>
          <a:xfrm>
            <a:off x="6035040" y="5806440"/>
            <a:ext cx="5577840" cy="530352"/>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Vouch reads only inputs and outputs, so any provider can be substituted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HOW IT WORKS</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Four steps, on a loop, around every response.</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2057400"/>
            <a:ext cx="914400" cy="457200"/>
          </a:xfrm>
          <a:prstGeom prst="rect">
            <a:avLst/>
          </a:prstGeom>
          <a:noFill/>
        </p:spPr>
        <p:txBody>
          <a:bodyPr wrap="square" lIns="0" rIns="0" tIns="0" bIns="0">
            <a:spAutoFit/>
          </a:bodyPr>
          <a:lstStyle/>
          <a:p>
            <a:pPr algn="l">
              <a:lnSpc>
                <a:spcPct val="100000"/>
              </a:lnSpc>
              <a:spcBef>
                <a:spcPts val="0"/>
              </a:spcBef>
              <a:spcAft>
                <a:spcPts val="0"/>
              </a:spcAft>
            </a:pPr>
            <a:r>
              <a:rPr sz="2400" b="1">
                <a:solidFill>
                  <a:srgbClr val="7400C0"/>
                </a:solidFill>
                <a:latin typeface="Arial"/>
              </a:rPr>
              <a:t>01</a:t>
            </a:r>
          </a:p>
        </p:txBody>
      </p:sp>
      <p:sp>
        <p:nvSpPr>
          <p:cNvPr id="6" name="TextBox 5"/>
          <p:cNvSpPr txBox="1"/>
          <p:nvPr/>
        </p:nvSpPr>
        <p:spPr>
          <a:xfrm>
            <a:off x="1371600" y="2103120"/>
            <a:ext cx="201168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Sense</a:t>
            </a:r>
          </a:p>
        </p:txBody>
      </p:sp>
      <p:sp>
        <p:nvSpPr>
          <p:cNvPr id="7" name="TextBox 6"/>
          <p:cNvSpPr txBox="1"/>
          <p:nvPr/>
        </p:nvSpPr>
        <p:spPr>
          <a:xfrm>
            <a:off x="3200400" y="2112264"/>
            <a:ext cx="8503920" cy="54864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Check the stated facts against the systems of record, and score grounding, privacy, policy and prompt injection.</a:t>
            </a:r>
          </a:p>
        </p:txBody>
      </p:sp>
      <p:sp>
        <p:nvSpPr>
          <p:cNvPr id="8" name="Rectangle 7"/>
          <p:cNvSpPr/>
          <p:nvPr/>
        </p:nvSpPr>
        <p:spPr>
          <a:xfrm>
            <a:off x="502920" y="2715768"/>
            <a:ext cx="112014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02920" y="2898648"/>
            <a:ext cx="914400" cy="457200"/>
          </a:xfrm>
          <a:prstGeom prst="rect">
            <a:avLst/>
          </a:prstGeom>
          <a:noFill/>
        </p:spPr>
        <p:txBody>
          <a:bodyPr wrap="square" lIns="0" rIns="0" tIns="0" bIns="0">
            <a:spAutoFit/>
          </a:bodyPr>
          <a:lstStyle/>
          <a:p>
            <a:pPr algn="l">
              <a:lnSpc>
                <a:spcPct val="100000"/>
              </a:lnSpc>
              <a:spcBef>
                <a:spcPts val="0"/>
              </a:spcBef>
              <a:spcAft>
                <a:spcPts val="0"/>
              </a:spcAft>
            </a:pPr>
            <a:r>
              <a:rPr sz="2400" b="1">
                <a:solidFill>
                  <a:srgbClr val="036B62"/>
                </a:solidFill>
                <a:latin typeface="Arial"/>
              </a:rPr>
              <a:t>02</a:t>
            </a:r>
          </a:p>
        </p:txBody>
      </p:sp>
      <p:sp>
        <p:nvSpPr>
          <p:cNvPr id="10" name="TextBox 9"/>
          <p:cNvSpPr txBox="1"/>
          <p:nvPr/>
        </p:nvSpPr>
        <p:spPr>
          <a:xfrm>
            <a:off x="1371600" y="2944368"/>
            <a:ext cx="201168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Price</a:t>
            </a:r>
          </a:p>
        </p:txBody>
      </p:sp>
      <p:sp>
        <p:nvSpPr>
          <p:cNvPr id="11" name="TextBox 10"/>
          <p:cNvSpPr txBox="1"/>
          <p:nvPr/>
        </p:nvSpPr>
        <p:spPr>
          <a:xfrm>
            <a:off x="3200400" y="2953512"/>
            <a:ext cx="8503920" cy="54864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Work out what it costs if this is wrong: the amount at stake, and whether the action can be undone.</a:t>
            </a:r>
          </a:p>
        </p:txBody>
      </p:sp>
      <p:sp>
        <p:nvSpPr>
          <p:cNvPr id="12" name="Rectangle 11"/>
          <p:cNvSpPr/>
          <p:nvPr/>
        </p:nvSpPr>
        <p:spPr>
          <a:xfrm>
            <a:off x="502920" y="3557015"/>
            <a:ext cx="112014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2920" y="3739896"/>
            <a:ext cx="914400" cy="457200"/>
          </a:xfrm>
          <a:prstGeom prst="rect">
            <a:avLst/>
          </a:prstGeom>
          <a:noFill/>
        </p:spPr>
        <p:txBody>
          <a:bodyPr wrap="square" lIns="0" rIns="0" tIns="0" bIns="0">
            <a:spAutoFit/>
          </a:bodyPr>
          <a:lstStyle/>
          <a:p>
            <a:pPr algn="l">
              <a:lnSpc>
                <a:spcPct val="100000"/>
              </a:lnSpc>
              <a:spcBef>
                <a:spcPts val="0"/>
              </a:spcBef>
              <a:spcAft>
                <a:spcPts val="0"/>
              </a:spcAft>
            </a:pPr>
            <a:r>
              <a:rPr sz="2400" b="1">
                <a:solidFill>
                  <a:srgbClr val="A31F57"/>
                </a:solidFill>
                <a:latin typeface="Arial"/>
              </a:rPr>
              <a:t>03</a:t>
            </a:r>
          </a:p>
        </p:txBody>
      </p:sp>
      <p:sp>
        <p:nvSpPr>
          <p:cNvPr id="14" name="TextBox 13"/>
          <p:cNvSpPr txBox="1"/>
          <p:nvPr/>
        </p:nvSpPr>
        <p:spPr>
          <a:xfrm>
            <a:off x="1371600" y="3785615"/>
            <a:ext cx="201168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Decide</a:t>
            </a:r>
          </a:p>
        </p:txBody>
      </p:sp>
      <p:sp>
        <p:nvSpPr>
          <p:cNvPr id="15" name="TextBox 14"/>
          <p:cNvSpPr txBox="1"/>
          <p:nvPr/>
        </p:nvSpPr>
        <p:spPr>
          <a:xfrm>
            <a:off x="3200400" y="3794759"/>
            <a:ext cx="8503920" cy="54864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Weigh that cost against what this agent has already earned on this exact job at this size of money.</a:t>
            </a:r>
          </a:p>
        </p:txBody>
      </p:sp>
      <p:sp>
        <p:nvSpPr>
          <p:cNvPr id="16" name="Rectangle 15"/>
          <p:cNvSpPr/>
          <p:nvPr/>
        </p:nvSpPr>
        <p:spPr>
          <a:xfrm>
            <a:off x="502920" y="4398264"/>
            <a:ext cx="112014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2920" y="4581144"/>
            <a:ext cx="914400" cy="457200"/>
          </a:xfrm>
          <a:prstGeom prst="rect">
            <a:avLst/>
          </a:prstGeom>
          <a:noFill/>
        </p:spPr>
        <p:txBody>
          <a:bodyPr wrap="square" lIns="0" rIns="0" tIns="0" bIns="0">
            <a:spAutoFit/>
          </a:bodyPr>
          <a:lstStyle/>
          <a:p>
            <a:pPr algn="l">
              <a:lnSpc>
                <a:spcPct val="100000"/>
              </a:lnSpc>
              <a:spcBef>
                <a:spcPts val="0"/>
              </a:spcBef>
              <a:spcAft>
                <a:spcPts val="0"/>
              </a:spcAft>
            </a:pPr>
            <a:r>
              <a:rPr sz="2400" b="1">
                <a:solidFill>
                  <a:srgbClr val="7400C0"/>
                </a:solidFill>
                <a:latin typeface="Arial"/>
              </a:rPr>
              <a:t>04</a:t>
            </a:r>
          </a:p>
        </p:txBody>
      </p:sp>
      <p:sp>
        <p:nvSpPr>
          <p:cNvPr id="18" name="TextBox 17"/>
          <p:cNvSpPr txBox="1"/>
          <p:nvPr/>
        </p:nvSpPr>
        <p:spPr>
          <a:xfrm>
            <a:off x="1371600" y="4626864"/>
            <a:ext cx="201168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Learn</a:t>
            </a:r>
          </a:p>
        </p:txBody>
      </p:sp>
      <p:sp>
        <p:nvSpPr>
          <p:cNvPr id="19" name="TextBox 18"/>
          <p:cNvSpPr txBox="1"/>
          <p:nvPr/>
        </p:nvSpPr>
        <p:spPr>
          <a:xfrm>
            <a:off x="3200400" y="4636007"/>
            <a:ext cx="8503920" cy="54864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Wait for the confirmed outcome, then widen or withdraw the authority accordingly.</a:t>
            </a:r>
          </a:p>
        </p:txBody>
      </p:sp>
      <p:sp>
        <p:nvSpPr>
          <p:cNvPr id="20" name="Rounded Rectangle 19"/>
          <p:cNvSpPr/>
          <p:nvPr/>
        </p:nvSpPr>
        <p:spPr>
          <a:xfrm>
            <a:off x="3200400" y="5760720"/>
            <a:ext cx="5852160" cy="566928"/>
          </a:xfrm>
          <a:prstGeom prst="roundRect">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200400" y="5925312"/>
            <a:ext cx="5852160" cy="365760"/>
          </a:xfrm>
          <a:prstGeom prst="rect">
            <a:avLst/>
          </a:prstGeom>
          <a:noFill/>
        </p:spPr>
        <p:txBody>
          <a:bodyPr wrap="square" lIns="0" rIns="0" tIns="0" bIns="0">
            <a:spAutoFit/>
          </a:bodyPr>
          <a:lstStyle/>
          <a:p>
            <a:pPr algn="ctr">
              <a:lnSpc>
                <a:spcPct val="100000"/>
              </a:lnSpc>
              <a:spcBef>
                <a:spcPts val="0"/>
              </a:spcBef>
              <a:spcAft>
                <a:spcPts val="0"/>
              </a:spcAft>
            </a:pPr>
            <a:r>
              <a:rPr sz="1400" b="1">
                <a:solidFill>
                  <a:srgbClr val="450073"/>
                </a:solidFill>
                <a:latin typeface="Arial"/>
              </a:rPr>
              <a:t>expected cost  =  probability of error  x  cost of the 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A DECISION, IN FULL</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Confidence is not permission.</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828800"/>
            <a:ext cx="11201400" cy="36576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The gate reads three numbers and returns one route. Nothing else influences the decision.</a:t>
            </a:r>
          </a:p>
        </p:txBody>
      </p:sp>
      <p:sp>
        <p:nvSpPr>
          <p:cNvPr id="6" name="Rectangle 5"/>
          <p:cNvSpPr/>
          <p:nvPr/>
        </p:nvSpPr>
        <p:spPr>
          <a:xfrm>
            <a:off x="502920" y="2212848"/>
            <a:ext cx="11201400" cy="914400"/>
          </a:xfrm>
          <a:prstGeom prst="rect">
            <a:avLst/>
          </a:prstGeom>
          <a:solidFill>
            <a:srgbClr val="FFFFFF"/>
          </a:solidFill>
          <a:ln w="12700">
            <a:solidFill>
              <a:srgbClr val="D8D8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2395728"/>
            <a:ext cx="2651760" cy="365760"/>
          </a:xfrm>
          <a:prstGeom prst="rect">
            <a:avLst/>
          </a:prstGeom>
          <a:noFill/>
        </p:spPr>
        <p:txBody>
          <a:bodyPr wrap="square" lIns="0" rIns="0" tIns="0" bIns="0">
            <a:spAutoFit/>
          </a:bodyPr>
          <a:lstStyle/>
          <a:p>
            <a:pPr algn="l">
              <a:lnSpc>
                <a:spcPct val="100000"/>
              </a:lnSpc>
              <a:spcBef>
                <a:spcPts val="0"/>
              </a:spcBef>
              <a:spcAft>
                <a:spcPts val="0"/>
              </a:spcAft>
            </a:pPr>
            <a:r>
              <a:rPr sz="1700" b="1">
                <a:solidFill>
                  <a:srgbClr val="7400C0"/>
                </a:solidFill>
                <a:latin typeface="Arial"/>
              </a:rPr>
              <a:t>P(error)</a:t>
            </a:r>
          </a:p>
        </p:txBody>
      </p:sp>
      <p:sp>
        <p:nvSpPr>
          <p:cNvPr id="8" name="TextBox 7"/>
          <p:cNvSpPr txBox="1"/>
          <p:nvPr/>
        </p:nvSpPr>
        <p:spPr>
          <a:xfrm>
            <a:off x="822960" y="2761488"/>
            <a:ext cx="2651760" cy="36576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How likely it is wrong</a:t>
            </a:r>
          </a:p>
        </p:txBody>
      </p:sp>
      <p:sp>
        <p:nvSpPr>
          <p:cNvPr id="9" name="TextBox 8"/>
          <p:cNvSpPr txBox="1"/>
          <p:nvPr/>
        </p:nvSpPr>
        <p:spPr>
          <a:xfrm>
            <a:off x="3566160" y="2395728"/>
            <a:ext cx="2651760" cy="365760"/>
          </a:xfrm>
          <a:prstGeom prst="rect">
            <a:avLst/>
          </a:prstGeom>
          <a:noFill/>
        </p:spPr>
        <p:txBody>
          <a:bodyPr wrap="square" lIns="0" rIns="0" tIns="0" bIns="0">
            <a:spAutoFit/>
          </a:bodyPr>
          <a:lstStyle/>
          <a:p>
            <a:pPr algn="l">
              <a:lnSpc>
                <a:spcPct val="100000"/>
              </a:lnSpc>
              <a:spcBef>
                <a:spcPts val="0"/>
              </a:spcBef>
              <a:spcAft>
                <a:spcPts val="0"/>
              </a:spcAft>
            </a:pPr>
            <a:r>
              <a:rPr sz="1700" b="1">
                <a:solidFill>
                  <a:srgbClr val="036B62"/>
                </a:solidFill>
                <a:latin typeface="Arial"/>
              </a:rPr>
              <a:t>x exposure</a:t>
            </a:r>
          </a:p>
        </p:txBody>
      </p:sp>
      <p:sp>
        <p:nvSpPr>
          <p:cNvPr id="10" name="TextBox 9"/>
          <p:cNvSpPr txBox="1"/>
          <p:nvPr/>
        </p:nvSpPr>
        <p:spPr>
          <a:xfrm>
            <a:off x="3566160" y="2761488"/>
            <a:ext cx="2651760" cy="36576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Cost if it is wrong</a:t>
            </a:r>
          </a:p>
        </p:txBody>
      </p:sp>
      <p:sp>
        <p:nvSpPr>
          <p:cNvPr id="11" name="TextBox 10"/>
          <p:cNvSpPr txBox="1"/>
          <p:nvPr/>
        </p:nvSpPr>
        <p:spPr>
          <a:xfrm>
            <a:off x="6309360" y="2395728"/>
            <a:ext cx="2651760" cy="365760"/>
          </a:xfrm>
          <a:prstGeom prst="rect">
            <a:avLst/>
          </a:prstGeom>
          <a:noFill/>
        </p:spPr>
        <p:txBody>
          <a:bodyPr wrap="square" lIns="0" rIns="0" tIns="0" bIns="0">
            <a:spAutoFit/>
          </a:bodyPr>
          <a:lstStyle/>
          <a:p>
            <a:pPr algn="l">
              <a:lnSpc>
                <a:spcPct val="100000"/>
              </a:lnSpc>
              <a:spcBef>
                <a:spcPts val="0"/>
              </a:spcBef>
              <a:spcAft>
                <a:spcPts val="0"/>
              </a:spcAft>
            </a:pPr>
            <a:r>
              <a:rPr sz="1700" b="1">
                <a:solidFill>
                  <a:srgbClr val="A31F57"/>
                </a:solidFill>
                <a:latin typeface="Arial"/>
              </a:rPr>
              <a:t>vs budget</a:t>
            </a:r>
          </a:p>
        </p:txBody>
      </p:sp>
      <p:sp>
        <p:nvSpPr>
          <p:cNvPr id="12" name="TextBox 11"/>
          <p:cNvSpPr txBox="1"/>
          <p:nvPr/>
        </p:nvSpPr>
        <p:spPr>
          <a:xfrm>
            <a:off x="6309360" y="2761488"/>
            <a:ext cx="2651760" cy="36576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What it has earned</a:t>
            </a:r>
          </a:p>
        </p:txBody>
      </p:sp>
      <p:sp>
        <p:nvSpPr>
          <p:cNvPr id="13" name="TextBox 12"/>
          <p:cNvSpPr txBox="1"/>
          <p:nvPr/>
        </p:nvSpPr>
        <p:spPr>
          <a:xfrm>
            <a:off x="9052560" y="2395728"/>
            <a:ext cx="2651760" cy="365760"/>
          </a:xfrm>
          <a:prstGeom prst="rect">
            <a:avLst/>
          </a:prstGeom>
          <a:noFill/>
        </p:spPr>
        <p:txBody>
          <a:bodyPr wrap="square" lIns="0" rIns="0" tIns="0" bIns="0">
            <a:spAutoFit/>
          </a:bodyPr>
          <a:lstStyle/>
          <a:p>
            <a:pPr algn="l">
              <a:lnSpc>
                <a:spcPct val="100000"/>
              </a:lnSpc>
              <a:spcBef>
                <a:spcPts val="0"/>
              </a:spcBef>
              <a:spcAft>
                <a:spcPts val="0"/>
              </a:spcAft>
            </a:pPr>
            <a:r>
              <a:rPr sz="1700" b="1">
                <a:solidFill>
                  <a:srgbClr val="1A1A1A"/>
                </a:solidFill>
                <a:latin typeface="Arial"/>
              </a:rPr>
              <a:t>= route</a:t>
            </a:r>
          </a:p>
        </p:txBody>
      </p:sp>
      <p:sp>
        <p:nvSpPr>
          <p:cNvPr id="14" name="TextBox 13"/>
          <p:cNvSpPr txBox="1"/>
          <p:nvPr/>
        </p:nvSpPr>
        <p:spPr>
          <a:xfrm>
            <a:off x="9052560" y="2761488"/>
            <a:ext cx="2651760" cy="36576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Release, verify, or hand over</a:t>
            </a:r>
          </a:p>
        </p:txBody>
      </p:sp>
      <p:sp>
        <p:nvSpPr>
          <p:cNvPr id="15" name="TextBox 14"/>
          <p:cNvSpPr txBox="1"/>
          <p:nvPr/>
        </p:nvSpPr>
        <p:spPr>
          <a:xfrm>
            <a:off x="502920" y="3310128"/>
            <a:ext cx="5486400" cy="365760"/>
          </a:xfrm>
          <a:prstGeom prst="rect">
            <a:avLst/>
          </a:prstGeom>
          <a:noFill/>
        </p:spPr>
        <p:txBody>
          <a:bodyPr wrap="square" lIns="0" rIns="0" tIns="0" bIns="0">
            <a:spAutoFit/>
          </a:bodyPr>
          <a:lstStyle/>
          <a:p>
            <a:pPr algn="l">
              <a:lnSpc>
                <a:spcPct val="125000"/>
              </a:lnSpc>
              <a:spcBef>
                <a:spcPts val="0"/>
              </a:spcBef>
              <a:spcAft>
                <a:spcPts val="0"/>
              </a:spcAft>
            </a:pPr>
            <a:r>
              <a:rPr sz="900" b="1">
                <a:solidFill>
                  <a:srgbClr val="5A5A5A"/>
                </a:solidFill>
                <a:latin typeface="Arial"/>
              </a:rPr>
              <a:t>THE SAME REQUEST, AT TWO AMOUNTS</a:t>
            </a:r>
          </a:p>
        </p:txBody>
      </p:sp>
      <p:sp>
        <p:nvSpPr>
          <p:cNvPr id="16" name="Rounded Rectangle 15"/>
          <p:cNvSpPr/>
          <p:nvPr/>
        </p:nvSpPr>
        <p:spPr>
          <a:xfrm>
            <a:off x="502920" y="3657600"/>
            <a:ext cx="5440680" cy="2103120"/>
          </a:xfrm>
          <a:prstGeom prst="roundRect">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3858768"/>
            <a:ext cx="484632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450073"/>
                </a:solidFill>
                <a:latin typeface="Arial"/>
              </a:rPr>
              <a:t>REFUND OF INR 60</a:t>
            </a:r>
          </a:p>
        </p:txBody>
      </p:sp>
      <p:sp>
        <p:nvSpPr>
          <p:cNvPr id="18" name="TextBox 17"/>
          <p:cNvSpPr txBox="1"/>
          <p:nvPr/>
        </p:nvSpPr>
        <p:spPr>
          <a:xfrm>
            <a:off x="795528" y="4160520"/>
            <a:ext cx="4846320" cy="100584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1A1A1A"/>
                </a:solidFill>
                <a:latin typeface="Arial"/>
              </a:rPr>
              <a:t>The chance of being wrong is 0.2 per cent, the amount is small and the refund can be reversed. This agent has a proven record at this size, so the expected cost lands inside it.</a:t>
            </a:r>
          </a:p>
        </p:txBody>
      </p:sp>
      <p:sp>
        <p:nvSpPr>
          <p:cNvPr id="19" name="TextBox 18"/>
          <p:cNvSpPr txBox="1"/>
          <p:nvPr/>
        </p:nvSpPr>
        <p:spPr>
          <a:xfrm>
            <a:off x="795528" y="5303520"/>
            <a:ext cx="4846320" cy="365760"/>
          </a:xfrm>
          <a:prstGeom prst="rect">
            <a:avLst/>
          </a:prstGeom>
          <a:noFill/>
        </p:spPr>
        <p:txBody>
          <a:bodyPr wrap="square" lIns="0" rIns="0" tIns="0" bIns="0">
            <a:spAutoFit/>
          </a:bodyPr>
          <a:lstStyle/>
          <a:p>
            <a:pPr algn="l">
              <a:lnSpc>
                <a:spcPct val="120000"/>
              </a:lnSpc>
              <a:spcBef>
                <a:spcPts val="0"/>
              </a:spcBef>
              <a:spcAft>
                <a:spcPts val="0"/>
              </a:spcAft>
            </a:pPr>
            <a:r>
              <a:rPr sz="1150" b="1">
                <a:solidFill>
                  <a:srgbClr val="450073"/>
                </a:solidFill>
                <a:latin typeface="Arial"/>
              </a:rPr>
              <a:t>Released automatically. No person involved.</a:t>
            </a:r>
          </a:p>
        </p:txBody>
      </p:sp>
      <p:sp>
        <p:nvSpPr>
          <p:cNvPr id="20" name="Rounded Rectangle 19"/>
          <p:cNvSpPr/>
          <p:nvPr/>
        </p:nvSpPr>
        <p:spPr>
          <a:xfrm>
            <a:off x="6309359" y="3657600"/>
            <a:ext cx="5440680" cy="2103120"/>
          </a:xfrm>
          <a:prstGeom prst="roundRect">
            <a:avLst/>
          </a:prstGeom>
          <a:solidFill>
            <a:srgbClr val="FF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601968" y="3858768"/>
            <a:ext cx="484632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31F57"/>
                </a:solidFill>
                <a:latin typeface="Arial"/>
              </a:rPr>
              <a:t>REFUND OF INR 1,96,485</a:t>
            </a:r>
          </a:p>
        </p:txBody>
      </p:sp>
      <p:sp>
        <p:nvSpPr>
          <p:cNvPr id="22" name="TextBox 21"/>
          <p:cNvSpPr txBox="1"/>
          <p:nvPr/>
        </p:nvSpPr>
        <p:spPr>
          <a:xfrm>
            <a:off x="6601968" y="4160520"/>
            <a:ext cx="4846320" cy="100584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1A1A1A"/>
                </a:solidFill>
                <a:latin typeface="Arial"/>
              </a:rPr>
              <a:t>The reply is written with exactly the same confidence. But a refund this large belongs to a separate record, and the expected cost runs past what the agent has earned there.</a:t>
            </a:r>
          </a:p>
        </p:txBody>
      </p:sp>
      <p:sp>
        <p:nvSpPr>
          <p:cNvPr id="23" name="TextBox 22"/>
          <p:cNvSpPr txBox="1"/>
          <p:nvPr/>
        </p:nvSpPr>
        <p:spPr>
          <a:xfrm>
            <a:off x="6601968" y="5303520"/>
            <a:ext cx="4846320" cy="365760"/>
          </a:xfrm>
          <a:prstGeom prst="rect">
            <a:avLst/>
          </a:prstGeom>
          <a:noFill/>
        </p:spPr>
        <p:txBody>
          <a:bodyPr wrap="square" lIns="0" rIns="0" tIns="0" bIns="0">
            <a:spAutoFit/>
          </a:bodyPr>
          <a:lstStyle/>
          <a:p>
            <a:pPr algn="l">
              <a:lnSpc>
                <a:spcPct val="120000"/>
              </a:lnSpc>
              <a:spcBef>
                <a:spcPts val="0"/>
              </a:spcBef>
              <a:spcAft>
                <a:spcPts val="0"/>
              </a:spcAft>
            </a:pPr>
            <a:r>
              <a:rPr sz="1150" b="1">
                <a:solidFill>
                  <a:srgbClr val="A31F57"/>
                </a:solidFill>
                <a:latin typeface="Arial"/>
              </a:rPr>
              <a:t>Sent to a person, with the evidence attached.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WHAT IS NEW</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Four departures from the usual safety layer.</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02920" y="2011680"/>
            <a:ext cx="292608" cy="292608"/>
          </a:xfrm>
          <a:prstGeom prst="round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100" b="1">
                <a:solidFill>
                  <a:srgbClr val="FFFFFF"/>
                </a:solidFill>
                <a:latin typeface="Arial"/>
              </a:rPr>
              <a:t>1</a:t>
            </a:r>
          </a:p>
        </p:txBody>
      </p:sp>
      <p:sp>
        <p:nvSpPr>
          <p:cNvPr id="6" name="TextBox 5"/>
          <p:cNvSpPr txBox="1"/>
          <p:nvPr/>
        </p:nvSpPr>
        <p:spPr>
          <a:xfrm>
            <a:off x="960120" y="2029968"/>
            <a:ext cx="1051560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Risk is priced, not labelled</a:t>
            </a:r>
          </a:p>
        </p:txBody>
      </p:sp>
      <p:sp>
        <p:nvSpPr>
          <p:cNvPr id="7" name="TextBox 6"/>
          <p:cNvSpPr txBox="1"/>
          <p:nvPr/>
        </p:nvSpPr>
        <p:spPr>
          <a:xfrm>
            <a:off x="960120" y="2340864"/>
            <a:ext cx="10698480" cy="64008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5A5A5A"/>
                </a:solidFill>
                <a:latin typeface="Arial"/>
              </a:rPr>
              <a:t>A conventional checker returns safe or unsafe. Vouch multiplies the chance of error by the cost of the action, so an identical response can be released in one context and held in another.</a:t>
            </a:r>
          </a:p>
        </p:txBody>
      </p:sp>
      <p:sp>
        <p:nvSpPr>
          <p:cNvPr id="8" name="Rectangle 7"/>
          <p:cNvSpPr/>
          <p:nvPr/>
        </p:nvSpPr>
        <p:spPr>
          <a:xfrm>
            <a:off x="960120" y="2944368"/>
            <a:ext cx="107442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02920" y="3072384"/>
            <a:ext cx="292608" cy="292608"/>
          </a:xfrm>
          <a:prstGeom prst="roundRect">
            <a:avLst/>
          </a:prstGeom>
          <a:solidFill>
            <a:srgbClr val="036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100" b="1">
                <a:solidFill>
                  <a:srgbClr val="FFFFFF"/>
                </a:solidFill>
                <a:latin typeface="Arial"/>
              </a:rPr>
              <a:t>2</a:t>
            </a:r>
          </a:p>
        </p:txBody>
      </p:sp>
      <p:sp>
        <p:nvSpPr>
          <p:cNvPr id="10" name="TextBox 9"/>
          <p:cNvSpPr txBox="1"/>
          <p:nvPr/>
        </p:nvSpPr>
        <p:spPr>
          <a:xfrm>
            <a:off x="960120" y="3090672"/>
            <a:ext cx="1051560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Authority is earned from outcomes</a:t>
            </a:r>
          </a:p>
        </p:txBody>
      </p:sp>
      <p:sp>
        <p:nvSpPr>
          <p:cNvPr id="11" name="TextBox 10"/>
          <p:cNvSpPr txBox="1"/>
          <p:nvPr/>
        </p:nvSpPr>
        <p:spPr>
          <a:xfrm>
            <a:off x="960120" y="3401568"/>
            <a:ext cx="10698480" cy="64008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5A5A5A"/>
                </a:solidFill>
                <a:latin typeface="Arial"/>
              </a:rPr>
              <a:t>Permissions are not configured by an administrator. They are a measured record, held separately for each agent, action and value band, and they shrink when results get worse.</a:t>
            </a:r>
          </a:p>
        </p:txBody>
      </p:sp>
      <p:sp>
        <p:nvSpPr>
          <p:cNvPr id="12" name="Rectangle 11"/>
          <p:cNvSpPr/>
          <p:nvPr/>
        </p:nvSpPr>
        <p:spPr>
          <a:xfrm>
            <a:off x="960120" y="4005072"/>
            <a:ext cx="107442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02920" y="4133088"/>
            <a:ext cx="292608" cy="292608"/>
          </a:xfrm>
          <a:prstGeom prst="roundRect">
            <a:avLst/>
          </a:prstGeom>
          <a:solidFill>
            <a:srgbClr val="A31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100" b="1">
                <a:solidFill>
                  <a:srgbClr val="FFFFFF"/>
                </a:solidFill>
                <a:latin typeface="Arial"/>
              </a:rPr>
              <a:t>3</a:t>
            </a:r>
          </a:p>
        </p:txBody>
      </p:sp>
      <p:sp>
        <p:nvSpPr>
          <p:cNvPr id="14" name="TextBox 13"/>
          <p:cNvSpPr txBox="1"/>
          <p:nvPr/>
        </p:nvSpPr>
        <p:spPr>
          <a:xfrm>
            <a:off x="960120" y="4151376"/>
            <a:ext cx="1051560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The costly check is bought only when it can change the answer</a:t>
            </a:r>
          </a:p>
        </p:txBody>
      </p:sp>
      <p:sp>
        <p:nvSpPr>
          <p:cNvPr id="15" name="TextBox 14"/>
          <p:cNvSpPr txBox="1"/>
          <p:nvPr/>
        </p:nvSpPr>
        <p:spPr>
          <a:xfrm>
            <a:off x="960120" y="4462272"/>
            <a:ext cx="10698480" cy="64008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5A5A5A"/>
                </a:solidFill>
                <a:latin typeface="Arial"/>
              </a:rPr>
              <a:t>A second, slower model is invoked for genuinely borderline cases rather than for every response, so verification cost and delay track difficulty instead of volume.</a:t>
            </a:r>
          </a:p>
        </p:txBody>
      </p:sp>
      <p:sp>
        <p:nvSpPr>
          <p:cNvPr id="16" name="Rectangle 15"/>
          <p:cNvSpPr/>
          <p:nvPr/>
        </p:nvSpPr>
        <p:spPr>
          <a:xfrm>
            <a:off x="960120" y="5065776"/>
            <a:ext cx="107442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502920" y="5193792"/>
            <a:ext cx="292608" cy="292608"/>
          </a:xfrm>
          <a:prstGeom prst="round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100" b="1">
                <a:solidFill>
                  <a:srgbClr val="FFFFFF"/>
                </a:solidFill>
                <a:latin typeface="Arial"/>
              </a:rPr>
              <a:t>4</a:t>
            </a:r>
          </a:p>
        </p:txBody>
      </p:sp>
      <p:sp>
        <p:nvSpPr>
          <p:cNvPr id="18" name="TextBox 17"/>
          <p:cNvSpPr txBox="1"/>
          <p:nvPr/>
        </p:nvSpPr>
        <p:spPr>
          <a:xfrm>
            <a:off x="960120" y="5212080"/>
            <a:ext cx="1051560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Failure always reduces autonomy</a:t>
            </a:r>
          </a:p>
        </p:txBody>
      </p:sp>
      <p:sp>
        <p:nvSpPr>
          <p:cNvPr id="19" name="TextBox 18"/>
          <p:cNvSpPr txBox="1"/>
          <p:nvPr/>
        </p:nvSpPr>
        <p:spPr>
          <a:xfrm>
            <a:off x="960120" y="5522976"/>
            <a:ext cx="10698480" cy="64008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5A5A5A"/>
                </a:solidFill>
                <a:latin typeface="Arial"/>
              </a:rPr>
              <a:t>Any component that goes missing makes the system more conservative, never less. An outage cannot silently widen what the agent is allowed to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POLICY BY USE CASE</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Same machinery. Different dials.</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828800"/>
            <a:ext cx="11201400" cy="45720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5A5A5A"/>
                </a:solidFill>
                <a:latin typeface="Arial"/>
              </a:rPr>
              <a:t>The brief assumes an enterprise running several AI use cases at once. Each gets its own risk tolerance and latency budget without a separate system being built for it.</a:t>
            </a:r>
          </a:p>
        </p:txBody>
      </p:sp>
      <p:sp>
        <p:nvSpPr>
          <p:cNvPr id="6" name="Rectangle 5"/>
          <p:cNvSpPr/>
          <p:nvPr/>
        </p:nvSpPr>
        <p:spPr>
          <a:xfrm>
            <a:off x="502920" y="2468880"/>
            <a:ext cx="3429000" cy="64008"/>
          </a:xfrm>
          <a:prstGeom prst="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2670048"/>
            <a:ext cx="3383280" cy="365760"/>
          </a:xfrm>
          <a:prstGeom prst="rect">
            <a:avLst/>
          </a:prstGeom>
          <a:noFill/>
        </p:spPr>
        <p:txBody>
          <a:bodyPr wrap="square" lIns="0" rIns="0" tIns="0" bIns="0">
            <a:spAutoFit/>
          </a:bodyPr>
          <a:lstStyle/>
          <a:p>
            <a:pPr algn="l">
              <a:lnSpc>
                <a:spcPct val="110000"/>
              </a:lnSpc>
              <a:spcBef>
                <a:spcPts val="0"/>
              </a:spcBef>
              <a:spcAft>
                <a:spcPts val="0"/>
              </a:spcAft>
            </a:pPr>
            <a:r>
              <a:rPr sz="1600" b="1">
                <a:solidFill>
                  <a:srgbClr val="1A1A1A"/>
                </a:solidFill>
                <a:latin typeface="Arial"/>
              </a:rPr>
              <a:t>Customer support</a:t>
            </a:r>
          </a:p>
        </p:txBody>
      </p:sp>
      <p:sp>
        <p:nvSpPr>
          <p:cNvPr id="8" name="TextBox 7"/>
          <p:cNvSpPr txBox="1"/>
          <p:nvPr/>
        </p:nvSpPr>
        <p:spPr>
          <a:xfrm>
            <a:off x="502920" y="2999232"/>
            <a:ext cx="3383280" cy="457200"/>
          </a:xfrm>
          <a:prstGeom prst="rect">
            <a:avLst/>
          </a:prstGeom>
          <a:noFill/>
        </p:spPr>
        <p:txBody>
          <a:bodyPr wrap="square" lIns="0" rIns="0" tIns="0" bIns="0">
            <a:spAutoFit/>
          </a:bodyPr>
          <a:lstStyle/>
          <a:p>
            <a:pPr algn="l">
              <a:lnSpc>
                <a:spcPct val="125000"/>
              </a:lnSpc>
              <a:spcBef>
                <a:spcPts val="0"/>
              </a:spcBef>
              <a:spcAft>
                <a:spcPts val="0"/>
              </a:spcAft>
            </a:pPr>
            <a:r>
              <a:rPr sz="1150" b="1">
                <a:solidFill>
                  <a:srgbClr val="7400C0"/>
                </a:solidFill>
                <a:latin typeface="Arial"/>
              </a:rPr>
              <a:t>Customer facing, acts on money</a:t>
            </a:r>
          </a:p>
        </p:txBody>
      </p:sp>
      <p:sp>
        <p:nvSpPr>
          <p:cNvPr id="9" name="TextBox 8"/>
          <p:cNvSpPr txBox="1"/>
          <p:nvPr/>
        </p:nvSpPr>
        <p:spPr>
          <a:xfrm>
            <a:off x="502920" y="361188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CHECKS</a:t>
            </a:r>
          </a:p>
        </p:txBody>
      </p:sp>
      <p:sp>
        <p:nvSpPr>
          <p:cNvPr id="10" name="TextBox 9"/>
          <p:cNvSpPr txBox="1"/>
          <p:nvPr/>
        </p:nvSpPr>
        <p:spPr>
          <a:xfrm>
            <a:off x="502920" y="383133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Grounding, policy, privacy</a:t>
            </a:r>
          </a:p>
        </p:txBody>
      </p:sp>
      <p:sp>
        <p:nvSpPr>
          <p:cNvPr id="11" name="TextBox 10"/>
          <p:cNvSpPr txBox="1"/>
          <p:nvPr/>
        </p:nvSpPr>
        <p:spPr>
          <a:xfrm>
            <a:off x="502920" y="434340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LATENCY POSTURE</a:t>
            </a:r>
          </a:p>
        </p:txBody>
      </p:sp>
      <p:sp>
        <p:nvSpPr>
          <p:cNvPr id="12" name="TextBox 11"/>
          <p:cNvSpPr txBox="1"/>
          <p:nvPr/>
        </p:nvSpPr>
        <p:spPr>
          <a:xfrm>
            <a:off x="502920" y="456285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Fast: checks overlap generation</a:t>
            </a:r>
          </a:p>
        </p:txBody>
      </p:sp>
      <p:sp>
        <p:nvSpPr>
          <p:cNvPr id="13" name="TextBox 12"/>
          <p:cNvSpPr txBox="1"/>
          <p:nvPr/>
        </p:nvSpPr>
        <p:spPr>
          <a:xfrm>
            <a:off x="502920" y="507492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TRUST SCOPE</a:t>
            </a:r>
          </a:p>
        </p:txBody>
      </p:sp>
      <p:sp>
        <p:nvSpPr>
          <p:cNvPr id="14" name="TextBox 13"/>
          <p:cNvSpPr txBox="1"/>
          <p:nvPr/>
        </p:nvSpPr>
        <p:spPr>
          <a:xfrm>
            <a:off x="502920" y="529437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Per action and value band</a:t>
            </a:r>
          </a:p>
        </p:txBody>
      </p:sp>
      <p:sp>
        <p:nvSpPr>
          <p:cNvPr id="15" name="Rectangle 14"/>
          <p:cNvSpPr/>
          <p:nvPr/>
        </p:nvSpPr>
        <p:spPr>
          <a:xfrm>
            <a:off x="4297680" y="2468880"/>
            <a:ext cx="3429000" cy="64008"/>
          </a:xfrm>
          <a:prstGeom prst="rect">
            <a:avLst/>
          </a:prstGeom>
          <a:solidFill>
            <a:srgbClr val="03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97680" y="2670048"/>
            <a:ext cx="3383280" cy="365760"/>
          </a:xfrm>
          <a:prstGeom prst="rect">
            <a:avLst/>
          </a:prstGeom>
          <a:noFill/>
        </p:spPr>
        <p:txBody>
          <a:bodyPr wrap="square" lIns="0" rIns="0" tIns="0" bIns="0">
            <a:spAutoFit/>
          </a:bodyPr>
          <a:lstStyle/>
          <a:p>
            <a:pPr algn="l">
              <a:lnSpc>
                <a:spcPct val="110000"/>
              </a:lnSpc>
              <a:spcBef>
                <a:spcPts val="0"/>
              </a:spcBef>
              <a:spcAft>
                <a:spcPts val="0"/>
              </a:spcAft>
            </a:pPr>
            <a:r>
              <a:rPr sz="1600" b="1">
                <a:solidFill>
                  <a:srgbClr val="1A1A1A"/>
                </a:solidFill>
                <a:latin typeface="Arial"/>
              </a:rPr>
              <a:t>Internal knowledge</a:t>
            </a:r>
          </a:p>
        </p:txBody>
      </p:sp>
      <p:sp>
        <p:nvSpPr>
          <p:cNvPr id="17" name="TextBox 16"/>
          <p:cNvSpPr txBox="1"/>
          <p:nvPr/>
        </p:nvSpPr>
        <p:spPr>
          <a:xfrm>
            <a:off x="4297680" y="2999232"/>
            <a:ext cx="3383280" cy="457200"/>
          </a:xfrm>
          <a:prstGeom prst="rect">
            <a:avLst/>
          </a:prstGeom>
          <a:noFill/>
        </p:spPr>
        <p:txBody>
          <a:bodyPr wrap="square" lIns="0" rIns="0" tIns="0" bIns="0">
            <a:spAutoFit/>
          </a:bodyPr>
          <a:lstStyle/>
          <a:p>
            <a:pPr algn="l">
              <a:lnSpc>
                <a:spcPct val="125000"/>
              </a:lnSpc>
              <a:spcBef>
                <a:spcPts val="0"/>
              </a:spcBef>
              <a:spcAft>
                <a:spcPts val="0"/>
              </a:spcAft>
            </a:pPr>
            <a:r>
              <a:rPr sz="1150" b="1">
                <a:solidFill>
                  <a:srgbClr val="036B62"/>
                </a:solidFill>
                <a:latin typeface="Arial"/>
              </a:rPr>
              <a:t>Employee facing, mostly reading</a:t>
            </a:r>
          </a:p>
        </p:txBody>
      </p:sp>
      <p:sp>
        <p:nvSpPr>
          <p:cNvPr id="18" name="TextBox 17"/>
          <p:cNvSpPr txBox="1"/>
          <p:nvPr/>
        </p:nvSpPr>
        <p:spPr>
          <a:xfrm>
            <a:off x="4297680" y="361188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CHECKS</a:t>
            </a:r>
          </a:p>
        </p:txBody>
      </p:sp>
      <p:sp>
        <p:nvSpPr>
          <p:cNvPr id="19" name="TextBox 18"/>
          <p:cNvSpPr txBox="1"/>
          <p:nvPr/>
        </p:nvSpPr>
        <p:spPr>
          <a:xfrm>
            <a:off x="4297680" y="383133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Source support, PII, injection</a:t>
            </a:r>
          </a:p>
        </p:txBody>
      </p:sp>
      <p:sp>
        <p:nvSpPr>
          <p:cNvPr id="20" name="TextBox 19"/>
          <p:cNvSpPr txBox="1"/>
          <p:nvPr/>
        </p:nvSpPr>
        <p:spPr>
          <a:xfrm>
            <a:off x="4297680" y="434340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LATENCY POSTURE</a:t>
            </a:r>
          </a:p>
        </p:txBody>
      </p:sp>
      <p:sp>
        <p:nvSpPr>
          <p:cNvPr id="21" name="TextBox 20"/>
          <p:cNvSpPr txBox="1"/>
          <p:nvPr/>
        </p:nvSpPr>
        <p:spPr>
          <a:xfrm>
            <a:off x="4297680" y="456285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Fastest: no action to price</a:t>
            </a:r>
          </a:p>
        </p:txBody>
      </p:sp>
      <p:sp>
        <p:nvSpPr>
          <p:cNvPr id="22" name="TextBox 21"/>
          <p:cNvSpPr txBox="1"/>
          <p:nvPr/>
        </p:nvSpPr>
        <p:spPr>
          <a:xfrm>
            <a:off x="4297680" y="507492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TRUST SCOPE</a:t>
            </a:r>
          </a:p>
        </p:txBody>
      </p:sp>
      <p:sp>
        <p:nvSpPr>
          <p:cNvPr id="23" name="TextBox 22"/>
          <p:cNvSpPr txBox="1"/>
          <p:nvPr/>
        </p:nvSpPr>
        <p:spPr>
          <a:xfrm>
            <a:off x="4297680" y="529437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Per domain and source set</a:t>
            </a:r>
          </a:p>
        </p:txBody>
      </p:sp>
      <p:sp>
        <p:nvSpPr>
          <p:cNvPr id="24" name="Rectangle 23"/>
          <p:cNvSpPr/>
          <p:nvPr/>
        </p:nvSpPr>
        <p:spPr>
          <a:xfrm>
            <a:off x="8092440" y="2468880"/>
            <a:ext cx="3429000" cy="64008"/>
          </a:xfrm>
          <a:prstGeom prst="rect">
            <a:avLst/>
          </a:prstGeom>
          <a:solidFill>
            <a:srgbClr val="A31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92440" y="2670048"/>
            <a:ext cx="3383280" cy="365760"/>
          </a:xfrm>
          <a:prstGeom prst="rect">
            <a:avLst/>
          </a:prstGeom>
          <a:noFill/>
        </p:spPr>
        <p:txBody>
          <a:bodyPr wrap="square" lIns="0" rIns="0" tIns="0" bIns="0">
            <a:spAutoFit/>
          </a:bodyPr>
          <a:lstStyle/>
          <a:p>
            <a:pPr algn="l">
              <a:lnSpc>
                <a:spcPct val="110000"/>
              </a:lnSpc>
              <a:spcBef>
                <a:spcPts val="0"/>
              </a:spcBef>
              <a:spcAft>
                <a:spcPts val="0"/>
              </a:spcAft>
            </a:pPr>
            <a:r>
              <a:rPr sz="1600" b="1">
                <a:solidFill>
                  <a:srgbClr val="1A1A1A"/>
                </a:solidFill>
                <a:latin typeface="Arial"/>
              </a:rPr>
              <a:t>Decision support</a:t>
            </a:r>
          </a:p>
        </p:txBody>
      </p:sp>
      <p:sp>
        <p:nvSpPr>
          <p:cNvPr id="26" name="TextBox 25"/>
          <p:cNvSpPr txBox="1"/>
          <p:nvPr/>
        </p:nvSpPr>
        <p:spPr>
          <a:xfrm>
            <a:off x="8092440" y="2999232"/>
            <a:ext cx="3383280" cy="457200"/>
          </a:xfrm>
          <a:prstGeom prst="rect">
            <a:avLst/>
          </a:prstGeom>
          <a:noFill/>
        </p:spPr>
        <p:txBody>
          <a:bodyPr wrap="square" lIns="0" rIns="0" tIns="0" bIns="0">
            <a:spAutoFit/>
          </a:bodyPr>
          <a:lstStyle/>
          <a:p>
            <a:pPr algn="l">
              <a:lnSpc>
                <a:spcPct val="125000"/>
              </a:lnSpc>
              <a:spcBef>
                <a:spcPts val="0"/>
              </a:spcBef>
              <a:spcAft>
                <a:spcPts val="0"/>
              </a:spcAft>
            </a:pPr>
            <a:r>
              <a:rPr sz="1150" b="1">
                <a:solidFill>
                  <a:srgbClr val="A31F57"/>
                </a:solidFill>
                <a:latin typeface="Arial"/>
              </a:rPr>
              <a:t>Regulated, a person is accountable</a:t>
            </a:r>
          </a:p>
        </p:txBody>
      </p:sp>
      <p:sp>
        <p:nvSpPr>
          <p:cNvPr id="27" name="TextBox 26"/>
          <p:cNvSpPr txBox="1"/>
          <p:nvPr/>
        </p:nvSpPr>
        <p:spPr>
          <a:xfrm>
            <a:off x="8092440" y="361188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CHECKS</a:t>
            </a:r>
          </a:p>
        </p:txBody>
      </p:sp>
      <p:sp>
        <p:nvSpPr>
          <p:cNvPr id="28" name="TextBox 27"/>
          <p:cNvSpPr txBox="1"/>
          <p:nvPr/>
        </p:nvSpPr>
        <p:spPr>
          <a:xfrm>
            <a:off x="8092440" y="383133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Bias, grounding, policy, PII</a:t>
            </a:r>
          </a:p>
        </p:txBody>
      </p:sp>
      <p:sp>
        <p:nvSpPr>
          <p:cNvPr id="29" name="TextBox 28"/>
          <p:cNvSpPr txBox="1"/>
          <p:nvPr/>
        </p:nvSpPr>
        <p:spPr>
          <a:xfrm>
            <a:off x="8092440" y="434340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LATENCY POSTURE</a:t>
            </a:r>
          </a:p>
        </p:txBody>
      </p:sp>
      <p:sp>
        <p:nvSpPr>
          <p:cNvPr id="30" name="TextBox 29"/>
          <p:cNvSpPr txBox="1"/>
          <p:nvPr/>
        </p:nvSpPr>
        <p:spPr>
          <a:xfrm>
            <a:off x="8092440" y="456285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Slower by design: deeper checks</a:t>
            </a:r>
          </a:p>
        </p:txBody>
      </p:sp>
      <p:sp>
        <p:nvSpPr>
          <p:cNvPr id="31" name="TextBox 30"/>
          <p:cNvSpPr txBox="1"/>
          <p:nvPr/>
        </p:nvSpPr>
        <p:spPr>
          <a:xfrm>
            <a:off x="8092440" y="5074920"/>
            <a:ext cx="338328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TRUST SCOPE</a:t>
            </a:r>
          </a:p>
        </p:txBody>
      </p:sp>
      <p:sp>
        <p:nvSpPr>
          <p:cNvPr id="32" name="TextBox 31"/>
          <p:cNvSpPr txBox="1"/>
          <p:nvPr/>
        </p:nvSpPr>
        <p:spPr>
          <a:xfrm>
            <a:off x="8092440" y="5294376"/>
            <a:ext cx="3291840" cy="457200"/>
          </a:xfrm>
          <a:prstGeom prst="rect">
            <a:avLst/>
          </a:prstGeom>
          <a:noFill/>
        </p:spPr>
        <p:txBody>
          <a:bodyPr wrap="square" lIns="0" rIns="0" tIns="0" bIns="0">
            <a:spAutoFit/>
          </a:bodyPr>
          <a:lstStyle/>
          <a:p>
            <a:pPr algn="l">
              <a:lnSpc>
                <a:spcPct val="125000"/>
              </a:lnSpc>
              <a:spcBef>
                <a:spcPts val="0"/>
              </a:spcBef>
              <a:spcAft>
                <a:spcPts val="0"/>
              </a:spcAft>
            </a:pPr>
            <a:r>
              <a:rPr sz="1150" b="0">
                <a:solidFill>
                  <a:srgbClr val="1A1A1A"/>
                </a:solidFill>
                <a:latin typeface="Arial"/>
              </a:rPr>
              <a:t>Per decision class and region</a:t>
            </a:r>
          </a:p>
        </p:txBody>
      </p:sp>
      <p:sp>
        <p:nvSpPr>
          <p:cNvPr id="33" name="Rectangle 32"/>
          <p:cNvSpPr/>
          <p:nvPr/>
        </p:nvSpPr>
        <p:spPr>
          <a:xfrm>
            <a:off x="502920" y="5870448"/>
            <a:ext cx="112014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02920" y="6016752"/>
            <a:ext cx="11201400" cy="365760"/>
          </a:xfrm>
          <a:prstGeom prst="rect">
            <a:avLst/>
          </a:prstGeom>
          <a:noFill/>
        </p:spPr>
        <p:txBody>
          <a:bodyPr wrap="square" lIns="0" rIns="0" tIns="0" bIns="0">
            <a:spAutoFit/>
          </a:bodyPr>
          <a:lstStyle/>
          <a:p>
            <a:pPr algn="l">
              <a:lnSpc>
                <a:spcPct val="125000"/>
              </a:lnSpc>
              <a:spcBef>
                <a:spcPts val="0"/>
              </a:spcBef>
              <a:spcAft>
                <a:spcPts val="0"/>
              </a:spcAft>
            </a:pPr>
            <a:r>
              <a:rPr sz="1100" b="0">
                <a:solidFill>
                  <a:srgbClr val="5A5A5A"/>
                </a:solidFill>
                <a:latin typeface="Arial"/>
              </a:rPr>
              <a:t>Verification depth is itself a setting: skip the second model, call it only for borderline cases, or apply it to every action that has a consequence.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ARCHITECTURE</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It sits between the agent and what it can touch.</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063240" y="3090672"/>
            <a:ext cx="1097280" cy="45720"/>
          </a:xfrm>
          <a:prstGeom prst="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818120" y="3090672"/>
            <a:ext cx="1234440" cy="45720"/>
          </a:xfrm>
          <a:prstGeom prst="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02920" y="2331720"/>
            <a:ext cx="2514600" cy="1600200"/>
          </a:xfrm>
          <a:prstGeom prst="roundRect">
            <a:avLst/>
          </a:prstGeom>
          <a:solidFill>
            <a:srgbClr val="FFFFFF"/>
          </a:solidFill>
          <a:ln w="15240">
            <a:solidFill>
              <a:srgbClr val="7400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58952" y="2532888"/>
            <a:ext cx="205740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7400C0"/>
                </a:solidFill>
                <a:latin typeface="Arial"/>
              </a:rPr>
              <a:t>ENTERPRISE AI</a:t>
            </a:r>
          </a:p>
        </p:txBody>
      </p:sp>
      <p:sp>
        <p:nvSpPr>
          <p:cNvPr id="9" name="TextBox 8"/>
          <p:cNvSpPr txBox="1"/>
          <p:nvPr/>
        </p:nvSpPr>
        <p:spPr>
          <a:xfrm>
            <a:off x="758952" y="2807208"/>
            <a:ext cx="2057400" cy="640080"/>
          </a:xfrm>
          <a:prstGeom prst="rect">
            <a:avLst/>
          </a:prstGeom>
          <a:noFill/>
        </p:spPr>
        <p:txBody>
          <a:bodyPr wrap="square" lIns="0" rIns="0" tIns="0" bIns="0">
            <a:spAutoFit/>
          </a:bodyPr>
          <a:lstStyle/>
          <a:p>
            <a:pPr algn="l">
              <a:lnSpc>
                <a:spcPct val="115000"/>
              </a:lnSpc>
              <a:spcBef>
                <a:spcPts val="0"/>
              </a:spcBef>
              <a:spcAft>
                <a:spcPts val="0"/>
              </a:spcAft>
            </a:pPr>
            <a:r>
              <a:rPr sz="1500" b="1">
                <a:solidFill>
                  <a:srgbClr val="1A1A1A"/>
                </a:solidFill>
                <a:latin typeface="Arial"/>
              </a:rPr>
              <a:t>Any model or agent</a:t>
            </a:r>
          </a:p>
        </p:txBody>
      </p:sp>
      <p:sp>
        <p:nvSpPr>
          <p:cNvPr id="10" name="Rounded Rectangle 9"/>
          <p:cNvSpPr/>
          <p:nvPr/>
        </p:nvSpPr>
        <p:spPr>
          <a:xfrm>
            <a:off x="4160520" y="2103120"/>
            <a:ext cx="3657600" cy="2057400"/>
          </a:xfrm>
          <a:prstGeom prst="roundRect">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16552" y="2304288"/>
            <a:ext cx="320040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FFFFFF"/>
                </a:solidFill>
                <a:latin typeface="Arial"/>
              </a:rPr>
              <a:t>VOUCH</a:t>
            </a:r>
          </a:p>
        </p:txBody>
      </p:sp>
      <p:sp>
        <p:nvSpPr>
          <p:cNvPr id="12" name="TextBox 11"/>
          <p:cNvSpPr txBox="1"/>
          <p:nvPr/>
        </p:nvSpPr>
        <p:spPr>
          <a:xfrm>
            <a:off x="4416552" y="2578608"/>
            <a:ext cx="3200400" cy="640080"/>
          </a:xfrm>
          <a:prstGeom prst="rect">
            <a:avLst/>
          </a:prstGeom>
          <a:noFill/>
        </p:spPr>
        <p:txBody>
          <a:bodyPr wrap="square" lIns="0" rIns="0" tIns="0" bIns="0">
            <a:spAutoFit/>
          </a:bodyPr>
          <a:lstStyle/>
          <a:p>
            <a:pPr algn="l">
              <a:lnSpc>
                <a:spcPct val="115000"/>
              </a:lnSpc>
              <a:spcBef>
                <a:spcPts val="0"/>
              </a:spcBef>
              <a:spcAft>
                <a:spcPts val="0"/>
              </a:spcAft>
            </a:pPr>
            <a:r>
              <a:rPr sz="1500" b="1">
                <a:solidFill>
                  <a:srgbClr val="FFFFFF"/>
                </a:solidFill>
                <a:latin typeface="Arial"/>
              </a:rPr>
              <a:t>Inspect, price, decide</a:t>
            </a:r>
          </a:p>
        </p:txBody>
      </p:sp>
      <p:sp>
        <p:nvSpPr>
          <p:cNvPr id="13" name="Rounded Rectangle 12"/>
          <p:cNvSpPr/>
          <p:nvPr/>
        </p:nvSpPr>
        <p:spPr>
          <a:xfrm>
            <a:off x="9052560" y="2331720"/>
            <a:ext cx="2651760" cy="1600200"/>
          </a:xfrm>
          <a:prstGeom prst="roundRect">
            <a:avLst/>
          </a:prstGeom>
          <a:solidFill>
            <a:srgbClr val="FFFFFF"/>
          </a:solidFill>
          <a:ln w="15240">
            <a:solidFill>
              <a:srgbClr val="7400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08592" y="2532888"/>
            <a:ext cx="219456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7400C0"/>
                </a:solidFill>
                <a:latin typeface="Arial"/>
              </a:rPr>
              <a:t>ENTERPRISE SYSTEMS</a:t>
            </a:r>
          </a:p>
        </p:txBody>
      </p:sp>
      <p:sp>
        <p:nvSpPr>
          <p:cNvPr id="15" name="TextBox 14"/>
          <p:cNvSpPr txBox="1"/>
          <p:nvPr/>
        </p:nvSpPr>
        <p:spPr>
          <a:xfrm>
            <a:off x="9308592" y="2807208"/>
            <a:ext cx="2194560" cy="640080"/>
          </a:xfrm>
          <a:prstGeom prst="rect">
            <a:avLst/>
          </a:prstGeom>
          <a:noFill/>
        </p:spPr>
        <p:txBody>
          <a:bodyPr wrap="square" lIns="0" rIns="0" tIns="0" bIns="0">
            <a:spAutoFit/>
          </a:bodyPr>
          <a:lstStyle/>
          <a:p>
            <a:pPr algn="l">
              <a:lnSpc>
                <a:spcPct val="115000"/>
              </a:lnSpc>
              <a:spcBef>
                <a:spcPts val="0"/>
              </a:spcBef>
              <a:spcAft>
                <a:spcPts val="0"/>
              </a:spcAft>
            </a:pPr>
            <a:r>
              <a:rPr sz="1500" b="1">
                <a:solidFill>
                  <a:srgbClr val="1A1A1A"/>
                </a:solidFill>
                <a:latin typeface="Arial"/>
              </a:rPr>
              <a:t>Tools, workflows, people</a:t>
            </a:r>
          </a:p>
        </p:txBody>
      </p:sp>
      <p:sp>
        <p:nvSpPr>
          <p:cNvPr id="16" name="TextBox 15"/>
          <p:cNvSpPr txBox="1"/>
          <p:nvPr/>
        </p:nvSpPr>
        <p:spPr>
          <a:xfrm>
            <a:off x="4526280" y="3035808"/>
            <a:ext cx="3108960" cy="36576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FFFFFF"/>
                </a:solidFill>
                <a:latin typeface="Arial"/>
              </a:rPr>
              <a:t>•  Deterministic checks</a:t>
            </a:r>
          </a:p>
        </p:txBody>
      </p:sp>
      <p:sp>
        <p:nvSpPr>
          <p:cNvPr id="17" name="TextBox 16"/>
          <p:cNvSpPr txBox="1"/>
          <p:nvPr/>
        </p:nvSpPr>
        <p:spPr>
          <a:xfrm>
            <a:off x="4526280" y="3291839"/>
            <a:ext cx="3108960" cy="36576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FFFFFF"/>
                </a:solidFill>
                <a:latin typeface="Arial"/>
              </a:rPr>
              <a:t>•  Parallel risk sensors</a:t>
            </a:r>
          </a:p>
        </p:txBody>
      </p:sp>
      <p:sp>
        <p:nvSpPr>
          <p:cNvPr id="18" name="TextBox 17"/>
          <p:cNvSpPr txBox="1"/>
          <p:nvPr/>
        </p:nvSpPr>
        <p:spPr>
          <a:xfrm>
            <a:off x="4526280" y="3547872"/>
            <a:ext cx="3108960" cy="36576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FFFFFF"/>
                </a:solidFill>
                <a:latin typeface="Arial"/>
              </a:rPr>
              <a:t>•  Second model when needed</a:t>
            </a:r>
          </a:p>
        </p:txBody>
      </p:sp>
      <p:sp>
        <p:nvSpPr>
          <p:cNvPr id="19" name="TextBox 18"/>
          <p:cNvSpPr txBox="1"/>
          <p:nvPr/>
        </p:nvSpPr>
        <p:spPr>
          <a:xfrm>
            <a:off x="4526280" y="3803904"/>
            <a:ext cx="3108960" cy="36576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FFFFFF"/>
                </a:solidFill>
                <a:latin typeface="Arial"/>
              </a:rPr>
              <a:t>•  Per-task trust ledger</a:t>
            </a:r>
          </a:p>
        </p:txBody>
      </p:sp>
      <p:sp>
        <p:nvSpPr>
          <p:cNvPr id="20" name="Rectangle 19"/>
          <p:cNvSpPr/>
          <p:nvPr/>
        </p:nvSpPr>
        <p:spPr>
          <a:xfrm>
            <a:off x="502920" y="4480560"/>
            <a:ext cx="112014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4709160"/>
            <a:ext cx="3474720" cy="365760"/>
          </a:xfrm>
          <a:prstGeom prst="rect">
            <a:avLst/>
          </a:prstGeom>
          <a:noFill/>
        </p:spPr>
        <p:txBody>
          <a:bodyPr wrap="square" lIns="0" rIns="0" tIns="0" bIns="0">
            <a:spAutoFit/>
          </a:bodyPr>
          <a:lstStyle/>
          <a:p>
            <a:pPr algn="l">
              <a:lnSpc>
                <a:spcPct val="110000"/>
              </a:lnSpc>
              <a:spcBef>
                <a:spcPts val="0"/>
              </a:spcBef>
              <a:spcAft>
                <a:spcPts val="0"/>
              </a:spcAft>
            </a:pPr>
            <a:r>
              <a:rPr sz="1250" b="1">
                <a:solidFill>
                  <a:srgbClr val="1A1A1A"/>
                </a:solidFill>
                <a:latin typeface="Arial"/>
              </a:rPr>
              <a:t>Inline, not after the fact</a:t>
            </a:r>
          </a:p>
        </p:txBody>
      </p:sp>
      <p:sp>
        <p:nvSpPr>
          <p:cNvPr id="22" name="TextBox 21"/>
          <p:cNvSpPr txBox="1"/>
          <p:nvPr/>
        </p:nvSpPr>
        <p:spPr>
          <a:xfrm>
            <a:off x="502920" y="5010912"/>
            <a:ext cx="3474720" cy="822960"/>
          </a:xfrm>
          <a:prstGeom prst="rect">
            <a:avLst/>
          </a:prstGeom>
          <a:noFill/>
        </p:spPr>
        <p:txBody>
          <a:bodyPr wrap="square" lIns="0" rIns="0" tIns="0" bIns="0">
            <a:spAutoFit/>
          </a:bodyPr>
          <a:lstStyle/>
          <a:p>
            <a:pPr algn="l">
              <a:lnSpc>
                <a:spcPct val="130000"/>
              </a:lnSpc>
              <a:spcBef>
                <a:spcPts val="0"/>
              </a:spcBef>
              <a:spcAft>
                <a:spcPts val="0"/>
              </a:spcAft>
            </a:pPr>
            <a:r>
              <a:rPr sz="1050" b="0">
                <a:solidFill>
                  <a:srgbClr val="5A5A5A"/>
                </a:solidFill>
                <a:latin typeface="Arial"/>
              </a:rPr>
              <a:t>The check happens before the action reaches a system, so a wrong answer is stopped rather than reported.</a:t>
            </a:r>
          </a:p>
        </p:txBody>
      </p:sp>
      <p:sp>
        <p:nvSpPr>
          <p:cNvPr id="23" name="TextBox 22"/>
          <p:cNvSpPr txBox="1"/>
          <p:nvPr/>
        </p:nvSpPr>
        <p:spPr>
          <a:xfrm>
            <a:off x="4297680" y="4709160"/>
            <a:ext cx="3474720" cy="365760"/>
          </a:xfrm>
          <a:prstGeom prst="rect">
            <a:avLst/>
          </a:prstGeom>
          <a:noFill/>
        </p:spPr>
        <p:txBody>
          <a:bodyPr wrap="square" lIns="0" rIns="0" tIns="0" bIns="0">
            <a:spAutoFit/>
          </a:bodyPr>
          <a:lstStyle/>
          <a:p>
            <a:pPr algn="l">
              <a:lnSpc>
                <a:spcPct val="110000"/>
              </a:lnSpc>
              <a:spcBef>
                <a:spcPts val="0"/>
              </a:spcBef>
              <a:spcAft>
                <a:spcPts val="0"/>
              </a:spcAft>
            </a:pPr>
            <a:r>
              <a:rPr sz="1250" b="1">
                <a:solidFill>
                  <a:srgbClr val="1A1A1A"/>
                </a:solidFill>
                <a:latin typeface="Arial"/>
              </a:rPr>
              <a:t>Checks run beside generation</a:t>
            </a:r>
          </a:p>
        </p:txBody>
      </p:sp>
      <p:sp>
        <p:nvSpPr>
          <p:cNvPr id="24" name="TextBox 23"/>
          <p:cNvSpPr txBox="1"/>
          <p:nvPr/>
        </p:nvSpPr>
        <p:spPr>
          <a:xfrm>
            <a:off x="4297680" y="5010912"/>
            <a:ext cx="3474720" cy="822960"/>
          </a:xfrm>
          <a:prstGeom prst="rect">
            <a:avLst/>
          </a:prstGeom>
          <a:noFill/>
        </p:spPr>
        <p:txBody>
          <a:bodyPr wrap="square" lIns="0" rIns="0" tIns="0" bIns="0">
            <a:spAutoFit/>
          </a:bodyPr>
          <a:lstStyle/>
          <a:p>
            <a:pPr algn="l">
              <a:lnSpc>
                <a:spcPct val="130000"/>
              </a:lnSpc>
              <a:spcBef>
                <a:spcPts val="0"/>
              </a:spcBef>
              <a:spcAft>
                <a:spcPts val="0"/>
              </a:spcAft>
            </a:pPr>
            <a:r>
              <a:rPr sz="1050" b="0">
                <a:solidFill>
                  <a:srgbClr val="5A5A5A"/>
                </a:solidFill>
                <a:latin typeface="Arial"/>
              </a:rPr>
              <a:t>Risk scoring overlaps the model writing its reply, so most of the work costs no extra waiting time.</a:t>
            </a:r>
          </a:p>
        </p:txBody>
      </p:sp>
      <p:sp>
        <p:nvSpPr>
          <p:cNvPr id="25" name="TextBox 24"/>
          <p:cNvSpPr txBox="1"/>
          <p:nvPr/>
        </p:nvSpPr>
        <p:spPr>
          <a:xfrm>
            <a:off x="8092440" y="4709160"/>
            <a:ext cx="3474720" cy="365760"/>
          </a:xfrm>
          <a:prstGeom prst="rect">
            <a:avLst/>
          </a:prstGeom>
          <a:noFill/>
        </p:spPr>
        <p:txBody>
          <a:bodyPr wrap="square" lIns="0" rIns="0" tIns="0" bIns="0">
            <a:spAutoFit/>
          </a:bodyPr>
          <a:lstStyle/>
          <a:p>
            <a:pPr algn="l">
              <a:lnSpc>
                <a:spcPct val="110000"/>
              </a:lnSpc>
              <a:spcBef>
                <a:spcPts val="0"/>
              </a:spcBef>
              <a:spcAft>
                <a:spcPts val="0"/>
              </a:spcAft>
            </a:pPr>
            <a:r>
              <a:rPr sz="1250" b="1">
                <a:solidFill>
                  <a:srgbClr val="1A1A1A"/>
                </a:solidFill>
                <a:latin typeface="Arial"/>
              </a:rPr>
              <a:t>Every decision is recorded</a:t>
            </a:r>
          </a:p>
        </p:txBody>
      </p:sp>
      <p:sp>
        <p:nvSpPr>
          <p:cNvPr id="26" name="TextBox 25"/>
          <p:cNvSpPr txBox="1"/>
          <p:nvPr/>
        </p:nvSpPr>
        <p:spPr>
          <a:xfrm>
            <a:off x="8092440" y="5010912"/>
            <a:ext cx="3474720" cy="822960"/>
          </a:xfrm>
          <a:prstGeom prst="rect">
            <a:avLst/>
          </a:prstGeom>
          <a:noFill/>
        </p:spPr>
        <p:txBody>
          <a:bodyPr wrap="square" lIns="0" rIns="0" tIns="0" bIns="0">
            <a:spAutoFit/>
          </a:bodyPr>
          <a:lstStyle/>
          <a:p>
            <a:pPr algn="l">
              <a:lnSpc>
                <a:spcPct val="130000"/>
              </a:lnSpc>
              <a:spcBef>
                <a:spcPts val="0"/>
              </a:spcBef>
              <a:spcAft>
                <a:spcPts val="0"/>
              </a:spcAft>
            </a:pPr>
            <a:r>
              <a:rPr sz="1050" b="0">
                <a:solidFill>
                  <a:srgbClr val="5A5A5A"/>
                </a:solidFill>
                <a:latin typeface="Arial"/>
              </a:rPr>
              <a:t>The response, evidence, action, reason, provider path and latency are written to an audit log that cannot be edited in place.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MEASURED EVIDENCE</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What the prototype did, and what it means.</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828800"/>
            <a:ext cx="11201400" cy="45720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5A5A5A"/>
                </a:solidFill>
                <a:latin typeface="Arial"/>
              </a:rPr>
              <a:t>A production AI model answered 1,466 real customer requests about refunds. Vouch scored and routed every one of them. The model can be replaced without changing anything below.</a:t>
            </a:r>
          </a:p>
        </p:txBody>
      </p:sp>
      <p:sp>
        <p:nvSpPr>
          <p:cNvPr id="6" name="Rectangle 5"/>
          <p:cNvSpPr/>
          <p:nvPr/>
        </p:nvSpPr>
        <p:spPr>
          <a:xfrm>
            <a:off x="502920" y="2487168"/>
            <a:ext cx="11201400" cy="1280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11480" y="2615184"/>
            <a:ext cx="11384280" cy="530352"/>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2734056"/>
            <a:ext cx="2286000" cy="365760"/>
          </a:xfrm>
          <a:prstGeom prst="rect">
            <a:avLst/>
          </a:prstGeom>
          <a:noFill/>
        </p:spPr>
        <p:txBody>
          <a:bodyPr wrap="square" lIns="0" rIns="0" tIns="0" bIns="0">
            <a:spAutoFit/>
          </a:bodyPr>
          <a:lstStyle/>
          <a:p>
            <a:pPr algn="l">
              <a:lnSpc>
                <a:spcPct val="100000"/>
              </a:lnSpc>
              <a:spcBef>
                <a:spcPts val="0"/>
              </a:spcBef>
              <a:spcAft>
                <a:spcPts val="0"/>
              </a:spcAft>
            </a:pPr>
            <a:r>
              <a:rPr sz="1600" b="1">
                <a:solidFill>
                  <a:srgbClr val="7400C0"/>
                </a:solidFill>
                <a:latin typeface="Arial"/>
              </a:rPr>
              <a:t>79.4%</a:t>
            </a:r>
          </a:p>
        </p:txBody>
      </p:sp>
      <p:sp>
        <p:nvSpPr>
          <p:cNvPr id="9" name="TextBox 8"/>
          <p:cNvSpPr txBox="1"/>
          <p:nvPr/>
        </p:nvSpPr>
        <p:spPr>
          <a:xfrm>
            <a:off x="2788920" y="2761488"/>
            <a:ext cx="3840480" cy="45720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of responses released with no human involvement</a:t>
            </a:r>
          </a:p>
        </p:txBody>
      </p:sp>
      <p:sp>
        <p:nvSpPr>
          <p:cNvPr id="10" name="TextBox 9"/>
          <p:cNvSpPr txBox="1"/>
          <p:nvPr/>
        </p:nvSpPr>
        <p:spPr>
          <a:xfrm>
            <a:off x="6858000" y="2761488"/>
            <a:ext cx="484632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The share of work that stops consuming review capacity</a:t>
            </a:r>
          </a:p>
        </p:txBody>
      </p:sp>
      <p:sp>
        <p:nvSpPr>
          <p:cNvPr id="11" name="TextBox 10"/>
          <p:cNvSpPr txBox="1"/>
          <p:nvPr/>
        </p:nvSpPr>
        <p:spPr>
          <a:xfrm>
            <a:off x="502920" y="3300984"/>
            <a:ext cx="2286000" cy="365760"/>
          </a:xfrm>
          <a:prstGeom prst="rect">
            <a:avLst/>
          </a:prstGeom>
          <a:noFill/>
        </p:spPr>
        <p:txBody>
          <a:bodyPr wrap="square" lIns="0" rIns="0" tIns="0" bIns="0">
            <a:spAutoFit/>
          </a:bodyPr>
          <a:lstStyle/>
          <a:p>
            <a:pPr algn="l">
              <a:lnSpc>
                <a:spcPct val="100000"/>
              </a:lnSpc>
              <a:spcBef>
                <a:spcPts val="0"/>
              </a:spcBef>
              <a:spcAft>
                <a:spcPts val="0"/>
              </a:spcAft>
            </a:pPr>
            <a:r>
              <a:rPr sz="1600" b="1">
                <a:solidFill>
                  <a:srgbClr val="036B62"/>
                </a:solidFill>
                <a:latin typeface="Arial"/>
              </a:rPr>
              <a:t>0</a:t>
            </a:r>
          </a:p>
        </p:txBody>
      </p:sp>
      <p:sp>
        <p:nvSpPr>
          <p:cNvPr id="12" name="TextBox 11"/>
          <p:cNvSpPr txBox="1"/>
          <p:nvPr/>
        </p:nvSpPr>
        <p:spPr>
          <a:xfrm>
            <a:off x="2788920" y="3328416"/>
            <a:ext cx="3840480" cy="45720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incorrect refunds released to a customer</a:t>
            </a:r>
          </a:p>
        </p:txBody>
      </p:sp>
      <p:sp>
        <p:nvSpPr>
          <p:cNvPr id="13" name="TextBox 12"/>
          <p:cNvSpPr txBox="1"/>
          <p:nvPr/>
        </p:nvSpPr>
        <p:spPr>
          <a:xfrm>
            <a:off x="6858000" y="3328416"/>
            <a:ext cx="484632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The autonomy above was not bought by letting errors through</a:t>
            </a:r>
          </a:p>
        </p:txBody>
      </p:sp>
      <p:sp>
        <p:nvSpPr>
          <p:cNvPr id="14" name="Rectangle 13"/>
          <p:cNvSpPr/>
          <p:nvPr/>
        </p:nvSpPr>
        <p:spPr>
          <a:xfrm>
            <a:off x="411480" y="3749039"/>
            <a:ext cx="11384280" cy="530352"/>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 y="3867911"/>
            <a:ext cx="2286000" cy="365760"/>
          </a:xfrm>
          <a:prstGeom prst="rect">
            <a:avLst/>
          </a:prstGeom>
          <a:noFill/>
        </p:spPr>
        <p:txBody>
          <a:bodyPr wrap="square" lIns="0" rIns="0" tIns="0" bIns="0">
            <a:spAutoFit/>
          </a:bodyPr>
          <a:lstStyle/>
          <a:p>
            <a:pPr algn="l">
              <a:lnSpc>
                <a:spcPct val="100000"/>
              </a:lnSpc>
              <a:spcBef>
                <a:spcPts val="0"/>
              </a:spcBef>
              <a:spcAft>
                <a:spcPts val="0"/>
              </a:spcAft>
            </a:pPr>
            <a:r>
              <a:rPr sz="1600" b="1">
                <a:solidFill>
                  <a:srgbClr val="036B62"/>
                </a:solidFill>
                <a:latin typeface="Arial"/>
              </a:rPr>
              <a:t>INR 17,27,616</a:t>
            </a:r>
          </a:p>
        </p:txBody>
      </p:sp>
      <p:sp>
        <p:nvSpPr>
          <p:cNvPr id="16" name="TextBox 15"/>
          <p:cNvSpPr txBox="1"/>
          <p:nvPr/>
        </p:nvSpPr>
        <p:spPr>
          <a:xfrm>
            <a:off x="2788920" y="3895344"/>
            <a:ext cx="3840480" cy="45720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of refunds paid out under earned authority</a:t>
            </a:r>
          </a:p>
        </p:txBody>
      </p:sp>
      <p:sp>
        <p:nvSpPr>
          <p:cNvPr id="17" name="TextBox 16"/>
          <p:cNvSpPr txBox="1"/>
          <p:nvPr/>
        </p:nvSpPr>
        <p:spPr>
          <a:xfrm>
            <a:off x="6858000" y="3895344"/>
            <a:ext cx="484632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Real money moved by the agent alone, inside its proven record</a:t>
            </a:r>
          </a:p>
        </p:txBody>
      </p:sp>
      <p:sp>
        <p:nvSpPr>
          <p:cNvPr id="18" name="TextBox 17"/>
          <p:cNvSpPr txBox="1"/>
          <p:nvPr/>
        </p:nvSpPr>
        <p:spPr>
          <a:xfrm>
            <a:off x="502920" y="4434840"/>
            <a:ext cx="2286000" cy="365760"/>
          </a:xfrm>
          <a:prstGeom prst="rect">
            <a:avLst/>
          </a:prstGeom>
          <a:noFill/>
        </p:spPr>
        <p:txBody>
          <a:bodyPr wrap="square" lIns="0" rIns="0" tIns="0" bIns="0">
            <a:spAutoFit/>
          </a:bodyPr>
          <a:lstStyle/>
          <a:p>
            <a:pPr algn="l">
              <a:lnSpc>
                <a:spcPct val="100000"/>
              </a:lnSpc>
              <a:spcBef>
                <a:spcPts val="0"/>
              </a:spcBef>
              <a:spcAft>
                <a:spcPts val="0"/>
              </a:spcAft>
            </a:pPr>
            <a:r>
              <a:rPr sz="1600" b="1">
                <a:solidFill>
                  <a:srgbClr val="7400C0"/>
                </a:solidFill>
                <a:latin typeface="Arial"/>
              </a:rPr>
              <a:t>0.018</a:t>
            </a:r>
          </a:p>
        </p:txBody>
      </p:sp>
      <p:sp>
        <p:nvSpPr>
          <p:cNvPr id="19" name="TextBox 18"/>
          <p:cNvSpPr txBox="1"/>
          <p:nvPr/>
        </p:nvSpPr>
        <p:spPr>
          <a:xfrm>
            <a:off x="2788920" y="4462272"/>
            <a:ext cx="3840480" cy="45720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calibration error</a:t>
            </a:r>
          </a:p>
        </p:txBody>
      </p:sp>
      <p:sp>
        <p:nvSpPr>
          <p:cNvPr id="20" name="TextBox 19"/>
          <p:cNvSpPr txBox="1"/>
          <p:nvPr/>
        </p:nvSpPr>
        <p:spPr>
          <a:xfrm>
            <a:off x="6858000" y="4462272"/>
            <a:ext cx="484632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When it says an answer is 5% likely wrong, it is wrong about 5% of the time</a:t>
            </a:r>
          </a:p>
        </p:txBody>
      </p:sp>
      <p:sp>
        <p:nvSpPr>
          <p:cNvPr id="21" name="Rectangle 20"/>
          <p:cNvSpPr/>
          <p:nvPr/>
        </p:nvSpPr>
        <p:spPr>
          <a:xfrm>
            <a:off x="411480" y="4882896"/>
            <a:ext cx="11384280" cy="530352"/>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5001768"/>
            <a:ext cx="2286000" cy="365760"/>
          </a:xfrm>
          <a:prstGeom prst="rect">
            <a:avLst/>
          </a:prstGeom>
          <a:noFill/>
        </p:spPr>
        <p:txBody>
          <a:bodyPr wrap="square" lIns="0" rIns="0" tIns="0" bIns="0">
            <a:spAutoFit/>
          </a:bodyPr>
          <a:lstStyle/>
          <a:p>
            <a:pPr algn="l">
              <a:lnSpc>
                <a:spcPct val="100000"/>
              </a:lnSpc>
              <a:spcBef>
                <a:spcPts val="0"/>
              </a:spcBef>
              <a:spcAft>
                <a:spcPts val="0"/>
              </a:spcAft>
            </a:pPr>
            <a:r>
              <a:rPr sz="1600" b="1">
                <a:solidFill>
                  <a:srgbClr val="1A1A1A"/>
                </a:solidFill>
                <a:latin typeface="Arial"/>
              </a:rPr>
              <a:t>35 ms</a:t>
            </a:r>
          </a:p>
        </p:txBody>
      </p:sp>
      <p:sp>
        <p:nvSpPr>
          <p:cNvPr id="23" name="TextBox 22"/>
          <p:cNvSpPr txBox="1"/>
          <p:nvPr/>
        </p:nvSpPr>
        <p:spPr>
          <a:xfrm>
            <a:off x="2788920" y="5029200"/>
            <a:ext cx="3840480" cy="45720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added to a response, at the middle of the range</a:t>
            </a:r>
          </a:p>
        </p:txBody>
      </p:sp>
      <p:sp>
        <p:nvSpPr>
          <p:cNvPr id="24" name="TextBox 23"/>
          <p:cNvSpPr txBox="1"/>
          <p:nvPr/>
        </p:nvSpPr>
        <p:spPr>
          <a:xfrm>
            <a:off x="6858000" y="5029200"/>
            <a:ext cx="484632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Imperceptible to a customer; the model itself takes seconds</a:t>
            </a:r>
          </a:p>
        </p:txBody>
      </p:sp>
      <p:sp>
        <p:nvSpPr>
          <p:cNvPr id="25" name="TextBox 24"/>
          <p:cNvSpPr txBox="1"/>
          <p:nvPr/>
        </p:nvSpPr>
        <p:spPr>
          <a:xfrm>
            <a:off x="502920" y="5568696"/>
            <a:ext cx="2286000" cy="365760"/>
          </a:xfrm>
          <a:prstGeom prst="rect">
            <a:avLst/>
          </a:prstGeom>
          <a:noFill/>
        </p:spPr>
        <p:txBody>
          <a:bodyPr wrap="square" lIns="0" rIns="0" tIns="0" bIns="0">
            <a:spAutoFit/>
          </a:bodyPr>
          <a:lstStyle/>
          <a:p>
            <a:pPr algn="l">
              <a:lnSpc>
                <a:spcPct val="100000"/>
              </a:lnSpc>
              <a:spcBef>
                <a:spcPts val="0"/>
              </a:spcBef>
              <a:spcAft>
                <a:spcPts val="0"/>
              </a:spcAft>
            </a:pPr>
            <a:r>
              <a:rPr sz="1600" b="1">
                <a:solidFill>
                  <a:srgbClr val="A31F57"/>
                </a:solidFill>
                <a:latin typeface="Arial"/>
              </a:rPr>
              <a:t>302</a:t>
            </a:r>
          </a:p>
        </p:txBody>
      </p:sp>
      <p:sp>
        <p:nvSpPr>
          <p:cNvPr id="26" name="TextBox 25"/>
          <p:cNvSpPr txBox="1"/>
          <p:nvPr/>
        </p:nvSpPr>
        <p:spPr>
          <a:xfrm>
            <a:off x="2788920" y="5596128"/>
            <a:ext cx="3840480" cy="457200"/>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responses held back for a person</a:t>
            </a:r>
          </a:p>
        </p:txBody>
      </p:sp>
      <p:sp>
        <p:nvSpPr>
          <p:cNvPr id="27" name="TextBox 26"/>
          <p:cNvSpPr txBox="1"/>
          <p:nvPr/>
        </p:nvSpPr>
        <p:spPr>
          <a:xfrm>
            <a:off x="6858000" y="5596128"/>
            <a:ext cx="484632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5A5A5A"/>
                </a:solidFill>
                <a:latin typeface="Arial"/>
              </a:rPr>
              <a:t>Concentrated where the consequence or the uncertainty was largest</a:t>
            </a:r>
          </a:p>
        </p:txBody>
      </p:sp>
      <p:sp>
        <p:nvSpPr>
          <p:cNvPr id="28" name="TextBox 27"/>
          <p:cNvSpPr txBox="1"/>
          <p:nvPr/>
        </p:nvSpPr>
        <p:spPr>
          <a:xfrm>
            <a:off x="502920" y="6144768"/>
            <a:ext cx="11201400" cy="365760"/>
          </a:xfrm>
          <a:prstGeom prst="rect">
            <a:avLst/>
          </a:prstGeom>
          <a:noFill/>
        </p:spPr>
        <p:txBody>
          <a:bodyPr wrap="square" lIns="0" rIns="0" tIns="0" bIns="0">
            <a:spAutoFit/>
          </a:bodyPr>
          <a:lstStyle/>
          <a:p>
            <a:pPr algn="l">
              <a:lnSpc>
                <a:spcPct val="120000"/>
              </a:lnSpc>
              <a:spcBef>
                <a:spcPts val="0"/>
              </a:spcBef>
              <a:spcAft>
                <a:spcPts val="0"/>
              </a:spcAft>
            </a:pPr>
            <a:r>
              <a:rPr sz="1000" b="0">
                <a:solidFill>
                  <a:srgbClr val="5A5A5A"/>
                </a:solidFill>
                <a:latin typeface="Arial"/>
              </a:rPr>
              <a:t>Reported alongside the two acceptance checks the prototype does not yet pass: borderline-case coverage and top-band sample size are still short.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SCALE</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The design scales on volume, use cases and cost.</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920240"/>
            <a:ext cx="5120640" cy="914400"/>
          </a:xfrm>
          <a:prstGeom prst="rect">
            <a:avLst/>
          </a:prstGeom>
          <a:noFill/>
        </p:spPr>
        <p:txBody>
          <a:bodyPr wrap="square" lIns="0" rIns="0" tIns="0" bIns="0">
            <a:spAutoFit/>
          </a:bodyPr>
          <a:lstStyle/>
          <a:p>
            <a:pPr algn="l">
              <a:lnSpc>
                <a:spcPct val="100000"/>
              </a:lnSpc>
              <a:spcBef>
                <a:spcPts val="0"/>
              </a:spcBef>
              <a:spcAft>
                <a:spcPts val="0"/>
              </a:spcAft>
            </a:pPr>
            <a:r>
              <a:rPr sz="5200" b="1">
                <a:solidFill>
                  <a:srgbClr val="7400C0"/>
                </a:solidFill>
                <a:latin typeface="Arial"/>
              </a:rPr>
              <a:t>79,400</a:t>
            </a:r>
          </a:p>
        </p:txBody>
      </p:sp>
      <p:sp>
        <p:nvSpPr>
          <p:cNvPr id="6" name="TextBox 5"/>
          <p:cNvSpPr txBox="1"/>
          <p:nvPr/>
        </p:nvSpPr>
        <p:spPr>
          <a:xfrm>
            <a:off x="502920" y="2880360"/>
            <a:ext cx="4937760" cy="914400"/>
          </a:xfrm>
          <a:prstGeom prst="rect">
            <a:avLst/>
          </a:prstGeom>
          <a:noFill/>
        </p:spPr>
        <p:txBody>
          <a:bodyPr wrap="square" lIns="0" rIns="0" tIns="0" bIns="0">
            <a:spAutoFit/>
          </a:bodyPr>
          <a:lstStyle/>
          <a:p>
            <a:pPr algn="l">
              <a:lnSpc>
                <a:spcPct val="135000"/>
              </a:lnSpc>
              <a:spcBef>
                <a:spcPts val="0"/>
              </a:spcBef>
              <a:spcAft>
                <a:spcPts val="0"/>
              </a:spcAft>
            </a:pPr>
            <a:r>
              <a:rPr sz="1250" b="0">
                <a:solidFill>
                  <a:srgbClr val="1A1A1A"/>
                </a:solidFill>
                <a:latin typeface="Arial"/>
              </a:rPr>
              <a:t>of 100,000 monthly decisions clear without a mandatory review, at the route mix measured here. Human attention returns to the remaining 20,600.</a:t>
            </a:r>
          </a:p>
        </p:txBody>
      </p:sp>
      <p:sp>
        <p:nvSpPr>
          <p:cNvPr id="7" name="Rounded Rectangle 6"/>
          <p:cNvSpPr/>
          <p:nvPr/>
        </p:nvSpPr>
        <p:spPr>
          <a:xfrm>
            <a:off x="6035040" y="1874519"/>
            <a:ext cx="5669280" cy="1783080"/>
          </a:xfrm>
          <a:prstGeom prst="roundRect">
            <a:avLst/>
          </a:prstGeom>
          <a:solidFill>
            <a:srgbClr val="FFFFFF"/>
          </a:solidFill>
          <a:ln w="12700">
            <a:solidFill>
              <a:srgbClr val="D8D8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55080" y="2084831"/>
            <a:ext cx="502920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A000FF"/>
                </a:solidFill>
                <a:latin typeface="Arial"/>
              </a:rPr>
              <a:t>VALUE EQUATION</a:t>
            </a:r>
          </a:p>
        </p:txBody>
      </p:sp>
      <p:sp>
        <p:nvSpPr>
          <p:cNvPr id="9" name="TextBox 8"/>
          <p:cNvSpPr txBox="1"/>
          <p:nvPr/>
        </p:nvSpPr>
        <p:spPr>
          <a:xfrm>
            <a:off x="6355080" y="2395728"/>
            <a:ext cx="5029200" cy="365760"/>
          </a:xfrm>
          <a:prstGeom prst="rect">
            <a:avLst/>
          </a:prstGeom>
          <a:noFill/>
        </p:spPr>
        <p:txBody>
          <a:bodyPr wrap="square" lIns="0" rIns="0" tIns="0" bIns="0">
            <a:spAutoFit/>
          </a:bodyPr>
          <a:lstStyle/>
          <a:p>
            <a:pPr algn="l">
              <a:lnSpc>
                <a:spcPct val="125000"/>
              </a:lnSpc>
              <a:spcBef>
                <a:spcPts val="0"/>
              </a:spcBef>
              <a:spcAft>
                <a:spcPts val="0"/>
              </a:spcAft>
            </a:pPr>
            <a:r>
              <a:rPr sz="1250" b="1">
                <a:solidFill>
                  <a:srgbClr val="1A1A1A"/>
                </a:solidFill>
                <a:latin typeface="Arial"/>
              </a:rPr>
              <a:t>avoided reviews x loaded review cost</a:t>
            </a:r>
          </a:p>
        </p:txBody>
      </p:sp>
      <p:sp>
        <p:nvSpPr>
          <p:cNvPr id="10" name="TextBox 9"/>
          <p:cNvSpPr txBox="1"/>
          <p:nvPr/>
        </p:nvSpPr>
        <p:spPr>
          <a:xfrm>
            <a:off x="6355080" y="2724912"/>
            <a:ext cx="5029200" cy="365760"/>
          </a:xfrm>
          <a:prstGeom prst="rect">
            <a:avLst/>
          </a:prstGeom>
          <a:noFill/>
        </p:spPr>
        <p:txBody>
          <a:bodyPr wrap="square" lIns="0" rIns="0" tIns="0" bIns="0">
            <a:spAutoFit/>
          </a:bodyPr>
          <a:lstStyle/>
          <a:p>
            <a:pPr algn="l">
              <a:lnSpc>
                <a:spcPct val="125000"/>
              </a:lnSpc>
              <a:spcBef>
                <a:spcPts val="0"/>
              </a:spcBef>
              <a:spcAft>
                <a:spcPts val="0"/>
              </a:spcAft>
            </a:pPr>
            <a:r>
              <a:rPr sz="1250" b="1">
                <a:solidFill>
                  <a:srgbClr val="036B62"/>
                </a:solidFill>
                <a:latin typeface="Arial"/>
              </a:rPr>
              <a:t>+ value of faster resolution</a:t>
            </a:r>
          </a:p>
        </p:txBody>
      </p:sp>
      <p:sp>
        <p:nvSpPr>
          <p:cNvPr id="11" name="TextBox 10"/>
          <p:cNvSpPr txBox="1"/>
          <p:nvPr/>
        </p:nvSpPr>
        <p:spPr>
          <a:xfrm>
            <a:off x="6355080" y="3054096"/>
            <a:ext cx="5029200" cy="365760"/>
          </a:xfrm>
          <a:prstGeom prst="rect">
            <a:avLst/>
          </a:prstGeom>
          <a:noFill/>
        </p:spPr>
        <p:txBody>
          <a:bodyPr wrap="square" lIns="0" rIns="0" tIns="0" bIns="0">
            <a:spAutoFit/>
          </a:bodyPr>
          <a:lstStyle/>
          <a:p>
            <a:pPr algn="l">
              <a:lnSpc>
                <a:spcPct val="125000"/>
              </a:lnSpc>
              <a:spcBef>
                <a:spcPts val="0"/>
              </a:spcBef>
              <a:spcAft>
                <a:spcPts val="0"/>
              </a:spcAft>
            </a:pPr>
            <a:r>
              <a:rPr sz="1250" b="1">
                <a:solidFill>
                  <a:srgbClr val="A31F57"/>
                </a:solidFill>
                <a:latin typeface="Arial"/>
              </a:rPr>
              <a:t>- control cost - remaining error loss</a:t>
            </a:r>
          </a:p>
        </p:txBody>
      </p:sp>
      <p:sp>
        <p:nvSpPr>
          <p:cNvPr id="12" name="Rectangle 11"/>
          <p:cNvSpPr/>
          <p:nvPr/>
        </p:nvSpPr>
        <p:spPr>
          <a:xfrm>
            <a:off x="502920" y="4069080"/>
            <a:ext cx="11201400" cy="7315"/>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2920" y="4224528"/>
            <a:ext cx="5486400" cy="365760"/>
          </a:xfrm>
          <a:prstGeom prst="rect">
            <a:avLst/>
          </a:prstGeom>
          <a:noFill/>
        </p:spPr>
        <p:txBody>
          <a:bodyPr wrap="square" lIns="0" rIns="0" tIns="0" bIns="0">
            <a:spAutoFit/>
          </a:bodyPr>
          <a:lstStyle/>
          <a:p>
            <a:pPr algn="l">
              <a:lnSpc>
                <a:spcPct val="125000"/>
              </a:lnSpc>
              <a:spcBef>
                <a:spcPts val="0"/>
              </a:spcBef>
              <a:spcAft>
                <a:spcPts val="0"/>
              </a:spcAft>
            </a:pPr>
            <a:r>
              <a:rPr sz="900" b="1">
                <a:solidFill>
                  <a:srgbClr val="5A5A5A"/>
                </a:solidFill>
                <a:latin typeface="Arial"/>
              </a:rPr>
              <a:t>WHAT MAKES IT SCALE</a:t>
            </a:r>
          </a:p>
        </p:txBody>
      </p:sp>
      <p:sp>
        <p:nvSpPr>
          <p:cNvPr id="14" name="TextBox 13"/>
          <p:cNvSpPr txBox="1"/>
          <p:nvPr/>
        </p:nvSpPr>
        <p:spPr>
          <a:xfrm>
            <a:off x="502920" y="4572000"/>
            <a:ext cx="265176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Volume</a:t>
            </a:r>
          </a:p>
        </p:txBody>
      </p:sp>
      <p:sp>
        <p:nvSpPr>
          <p:cNvPr id="15" name="TextBox 14"/>
          <p:cNvSpPr txBox="1"/>
          <p:nvPr/>
        </p:nvSpPr>
        <p:spPr>
          <a:xfrm>
            <a:off x="502920" y="4864608"/>
            <a:ext cx="2606040" cy="914400"/>
          </a:xfrm>
          <a:prstGeom prst="rect">
            <a:avLst/>
          </a:prstGeom>
          <a:noFill/>
        </p:spPr>
        <p:txBody>
          <a:bodyPr wrap="square" lIns="0" rIns="0" tIns="0" bIns="0">
            <a:spAutoFit/>
          </a:bodyPr>
          <a:lstStyle/>
          <a:p>
            <a:pPr algn="l">
              <a:lnSpc>
                <a:spcPct val="130000"/>
              </a:lnSpc>
              <a:spcBef>
                <a:spcPts val="0"/>
              </a:spcBef>
              <a:spcAft>
                <a:spcPts val="0"/>
              </a:spcAft>
            </a:pPr>
            <a:r>
              <a:rPr sz="1050" b="0">
                <a:solidFill>
                  <a:srgbClr val="5A5A5A"/>
                </a:solidFill>
                <a:latin typeface="Arial"/>
              </a:rPr>
              <a:t>Most checks are deterministic or run beside generation, so cost per decision stays roughly flat as traffic grows.</a:t>
            </a:r>
          </a:p>
        </p:txBody>
      </p:sp>
      <p:sp>
        <p:nvSpPr>
          <p:cNvPr id="16" name="TextBox 15"/>
          <p:cNvSpPr txBox="1"/>
          <p:nvPr/>
        </p:nvSpPr>
        <p:spPr>
          <a:xfrm>
            <a:off x="3337560" y="4572000"/>
            <a:ext cx="265176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Use cases</a:t>
            </a:r>
          </a:p>
        </p:txBody>
      </p:sp>
      <p:sp>
        <p:nvSpPr>
          <p:cNvPr id="17" name="TextBox 16"/>
          <p:cNvSpPr txBox="1"/>
          <p:nvPr/>
        </p:nvSpPr>
        <p:spPr>
          <a:xfrm>
            <a:off x="3337560" y="4864608"/>
            <a:ext cx="2606040" cy="914400"/>
          </a:xfrm>
          <a:prstGeom prst="rect">
            <a:avLst/>
          </a:prstGeom>
          <a:noFill/>
        </p:spPr>
        <p:txBody>
          <a:bodyPr wrap="square" lIns="0" rIns="0" tIns="0" bIns="0">
            <a:spAutoFit/>
          </a:bodyPr>
          <a:lstStyle/>
          <a:p>
            <a:pPr algn="l">
              <a:lnSpc>
                <a:spcPct val="130000"/>
              </a:lnSpc>
              <a:spcBef>
                <a:spcPts val="0"/>
              </a:spcBef>
              <a:spcAft>
                <a:spcPts val="0"/>
              </a:spcAft>
            </a:pPr>
            <a:r>
              <a:rPr sz="1050" b="0">
                <a:solidFill>
                  <a:srgbClr val="5A5A5A"/>
                </a:solidFill>
                <a:latin typeface="Arial"/>
              </a:rPr>
              <a:t>A new workflow is a policy entry, not a new system. The gate, ledger and audit trail are shared.</a:t>
            </a:r>
          </a:p>
        </p:txBody>
      </p:sp>
      <p:sp>
        <p:nvSpPr>
          <p:cNvPr id="18" name="TextBox 17"/>
          <p:cNvSpPr txBox="1"/>
          <p:nvPr/>
        </p:nvSpPr>
        <p:spPr>
          <a:xfrm>
            <a:off x="6172200" y="4572000"/>
            <a:ext cx="265176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Spend</a:t>
            </a:r>
          </a:p>
        </p:txBody>
      </p:sp>
      <p:sp>
        <p:nvSpPr>
          <p:cNvPr id="19" name="TextBox 18"/>
          <p:cNvSpPr txBox="1"/>
          <p:nvPr/>
        </p:nvSpPr>
        <p:spPr>
          <a:xfrm>
            <a:off x="6172200" y="4864608"/>
            <a:ext cx="2606040" cy="914400"/>
          </a:xfrm>
          <a:prstGeom prst="rect">
            <a:avLst/>
          </a:prstGeom>
          <a:noFill/>
        </p:spPr>
        <p:txBody>
          <a:bodyPr wrap="square" lIns="0" rIns="0" tIns="0" bIns="0">
            <a:spAutoFit/>
          </a:bodyPr>
          <a:lstStyle/>
          <a:p>
            <a:pPr algn="l">
              <a:lnSpc>
                <a:spcPct val="130000"/>
              </a:lnSpc>
              <a:spcBef>
                <a:spcPts val="0"/>
              </a:spcBef>
              <a:spcAft>
                <a:spcPts val="0"/>
              </a:spcAft>
            </a:pPr>
            <a:r>
              <a:rPr sz="1050" b="0">
                <a:solidFill>
                  <a:srgbClr val="5A5A5A"/>
                </a:solidFill>
                <a:latin typeface="Arial"/>
              </a:rPr>
              <a:t>The expensive second model is reserved for borderline cases, so verification cost tracks difficulty rather than volume.</a:t>
            </a:r>
          </a:p>
        </p:txBody>
      </p:sp>
      <p:sp>
        <p:nvSpPr>
          <p:cNvPr id="20" name="TextBox 19"/>
          <p:cNvSpPr txBox="1"/>
          <p:nvPr/>
        </p:nvSpPr>
        <p:spPr>
          <a:xfrm>
            <a:off x="9006840" y="4572000"/>
            <a:ext cx="2651760" cy="365760"/>
          </a:xfrm>
          <a:prstGeom prst="rect">
            <a:avLst/>
          </a:prstGeom>
          <a:noFill/>
        </p:spPr>
        <p:txBody>
          <a:bodyPr wrap="square" lIns="0" rIns="0" tIns="0" bIns="0">
            <a:spAutoFit/>
          </a:bodyPr>
          <a:lstStyle/>
          <a:p>
            <a:pPr algn="l">
              <a:lnSpc>
                <a:spcPct val="110000"/>
              </a:lnSpc>
              <a:spcBef>
                <a:spcPts val="0"/>
              </a:spcBef>
              <a:spcAft>
                <a:spcPts val="0"/>
              </a:spcAft>
            </a:pPr>
            <a:r>
              <a:rPr sz="1400" b="1">
                <a:solidFill>
                  <a:srgbClr val="1A1A1A"/>
                </a:solidFill>
                <a:latin typeface="Arial"/>
              </a:rPr>
              <a:t>Governance</a:t>
            </a:r>
          </a:p>
        </p:txBody>
      </p:sp>
      <p:sp>
        <p:nvSpPr>
          <p:cNvPr id="21" name="TextBox 20"/>
          <p:cNvSpPr txBox="1"/>
          <p:nvPr/>
        </p:nvSpPr>
        <p:spPr>
          <a:xfrm>
            <a:off x="9006840" y="4864608"/>
            <a:ext cx="2606040" cy="914400"/>
          </a:xfrm>
          <a:prstGeom prst="rect">
            <a:avLst/>
          </a:prstGeom>
          <a:noFill/>
        </p:spPr>
        <p:txBody>
          <a:bodyPr wrap="square" lIns="0" rIns="0" tIns="0" bIns="0">
            <a:spAutoFit/>
          </a:bodyPr>
          <a:lstStyle/>
          <a:p>
            <a:pPr algn="l">
              <a:lnSpc>
                <a:spcPct val="130000"/>
              </a:lnSpc>
              <a:spcBef>
                <a:spcPts val="0"/>
              </a:spcBef>
              <a:spcAft>
                <a:spcPts val="0"/>
              </a:spcAft>
            </a:pPr>
            <a:r>
              <a:rPr sz="1050" b="0">
                <a:solidFill>
                  <a:srgbClr val="5A5A5A"/>
                </a:solidFill>
                <a:latin typeface="Arial"/>
              </a:rPr>
              <a:t>One audit trail and one policy layer serve every agent, so compliance effort is paid once.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RISKS AND CONTROLS</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When something breaks, autonomy only goes down.</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2011680"/>
            <a:ext cx="438912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5A5A5A"/>
                </a:solidFill>
                <a:latin typeface="Arial"/>
              </a:rPr>
              <a:t>RISK</a:t>
            </a:r>
          </a:p>
        </p:txBody>
      </p:sp>
      <p:sp>
        <p:nvSpPr>
          <p:cNvPr id="6" name="TextBox 5"/>
          <p:cNvSpPr txBox="1"/>
          <p:nvPr/>
        </p:nvSpPr>
        <p:spPr>
          <a:xfrm>
            <a:off x="5120640" y="2011680"/>
            <a:ext cx="649224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A000FF"/>
                </a:solidFill>
                <a:latin typeface="Arial"/>
              </a:rPr>
              <a:t>CONTROL</a:t>
            </a:r>
          </a:p>
        </p:txBody>
      </p:sp>
      <p:sp>
        <p:nvSpPr>
          <p:cNvPr id="7" name="Rectangle 6"/>
          <p:cNvSpPr/>
          <p:nvPr/>
        </p:nvSpPr>
        <p:spPr>
          <a:xfrm>
            <a:off x="502920" y="2231136"/>
            <a:ext cx="11201400" cy="1280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11480" y="2322576"/>
            <a:ext cx="11384280" cy="530352"/>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02920" y="2395728"/>
            <a:ext cx="438912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Truth arrives late or conflicts</a:t>
            </a:r>
          </a:p>
        </p:txBody>
      </p:sp>
      <p:sp>
        <p:nvSpPr>
          <p:cNvPr id="10" name="TextBox 9"/>
          <p:cNvSpPr txBox="1"/>
          <p:nvPr/>
        </p:nvSpPr>
        <p:spPr>
          <a:xfrm>
            <a:off x="5120640" y="2395728"/>
            <a:ext cx="649224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Wait out the evidence window, and weigh sources by strength</a:t>
            </a:r>
          </a:p>
        </p:txBody>
      </p:sp>
      <p:sp>
        <p:nvSpPr>
          <p:cNvPr id="11" name="TextBox 10"/>
          <p:cNvSpPr txBox="1"/>
          <p:nvPr/>
        </p:nvSpPr>
        <p:spPr>
          <a:xfrm>
            <a:off x="502920" y="2962656"/>
            <a:ext cx="438912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The system flags too much</a:t>
            </a:r>
          </a:p>
        </p:txBody>
      </p:sp>
      <p:sp>
        <p:nvSpPr>
          <p:cNvPr id="12" name="TextBox 11"/>
          <p:cNvSpPr txBox="1"/>
          <p:nvPr/>
        </p:nvSpPr>
        <p:spPr>
          <a:xfrm>
            <a:off x="5120640" y="2962656"/>
            <a:ext cx="649224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Calibration, borderline analysis, and a forced-review sample</a:t>
            </a:r>
          </a:p>
        </p:txBody>
      </p:sp>
      <p:sp>
        <p:nvSpPr>
          <p:cNvPr id="13" name="Rectangle 12"/>
          <p:cNvSpPr/>
          <p:nvPr/>
        </p:nvSpPr>
        <p:spPr>
          <a:xfrm>
            <a:off x="411480" y="3456432"/>
            <a:ext cx="11384280" cy="530352"/>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02920" y="3529584"/>
            <a:ext cx="438912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A sensor or provider fails</a:t>
            </a:r>
          </a:p>
        </p:txBody>
      </p:sp>
      <p:sp>
        <p:nvSpPr>
          <p:cNvPr id="15" name="TextBox 14"/>
          <p:cNvSpPr txBox="1"/>
          <p:nvPr/>
        </p:nvSpPr>
        <p:spPr>
          <a:xfrm>
            <a:off x="5120640" y="3529584"/>
            <a:ext cx="649224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Decide conservatively, cap the wait, retry once and stop</a:t>
            </a:r>
          </a:p>
        </p:txBody>
      </p:sp>
      <p:sp>
        <p:nvSpPr>
          <p:cNvPr id="16" name="TextBox 15"/>
          <p:cNvSpPr txBox="1"/>
          <p:nvPr/>
        </p:nvSpPr>
        <p:spPr>
          <a:xfrm>
            <a:off x="502920" y="4096512"/>
            <a:ext cx="438912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Policy or the model drifts</a:t>
            </a:r>
          </a:p>
        </p:txBody>
      </p:sp>
      <p:sp>
        <p:nvSpPr>
          <p:cNvPr id="17" name="TextBox 16"/>
          <p:cNvSpPr txBox="1"/>
          <p:nvPr/>
        </p:nvSpPr>
        <p:spPr>
          <a:xfrm>
            <a:off x="5120640" y="4096512"/>
            <a:ext cx="649224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Fingerprint the configuration, and promote only through gates</a:t>
            </a:r>
          </a:p>
        </p:txBody>
      </p:sp>
      <p:sp>
        <p:nvSpPr>
          <p:cNvPr id="18" name="Rectangle 17"/>
          <p:cNvSpPr/>
          <p:nvPr/>
        </p:nvSpPr>
        <p:spPr>
          <a:xfrm>
            <a:off x="411480" y="4590288"/>
            <a:ext cx="11384280" cy="530352"/>
          </a:xfrm>
          <a:prstGeom prst="rect">
            <a:avLst/>
          </a:prstGeom>
          <a:solidFill>
            <a:srgbClr val="F7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2920" y="4663440"/>
            <a:ext cx="438912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Privacy and regional rules vary</a:t>
            </a:r>
          </a:p>
        </p:txBody>
      </p:sp>
      <p:sp>
        <p:nvSpPr>
          <p:cNvPr id="20" name="TextBox 19"/>
          <p:cNvSpPr txBox="1"/>
          <p:nvPr/>
        </p:nvSpPr>
        <p:spPr>
          <a:xfrm>
            <a:off x="5120640" y="4663440"/>
            <a:ext cx="649224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Fixed invariants, and policy the server owns</a:t>
            </a:r>
          </a:p>
        </p:txBody>
      </p:sp>
      <p:sp>
        <p:nvSpPr>
          <p:cNvPr id="21" name="TextBox 20"/>
          <p:cNvSpPr txBox="1"/>
          <p:nvPr/>
        </p:nvSpPr>
        <p:spPr>
          <a:xfrm>
            <a:off x="502920" y="5230368"/>
            <a:ext cx="438912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1A1A1A"/>
                </a:solidFill>
                <a:latin typeface="Arial"/>
              </a:rPr>
              <a:t>Reviewers begin rubber-stamping</a:t>
            </a:r>
          </a:p>
        </p:txBody>
      </p:sp>
      <p:sp>
        <p:nvSpPr>
          <p:cNvPr id="22" name="TextBox 21"/>
          <p:cNvSpPr txBox="1"/>
          <p:nvPr/>
        </p:nvSpPr>
        <p:spPr>
          <a:xfrm>
            <a:off x="5120640" y="5230368"/>
            <a:ext cx="6492240" cy="566928"/>
          </a:xfrm>
          <a:prstGeom prst="rect">
            <a:avLst/>
          </a:prstGeom>
          <a:noFill/>
        </p:spPr>
        <p:txBody>
          <a:bodyPr wrap="square" lIns="0" rIns="0" tIns="0" bIns="0">
            <a:spAutoFit/>
          </a:bodyPr>
          <a:lstStyle/>
          <a:p>
            <a:pPr algn="l">
              <a:lnSpc>
                <a:spcPct val="120000"/>
              </a:lnSpc>
              <a:spcBef>
                <a:spcPts val="0"/>
              </a:spcBef>
              <a:spcAft>
                <a:spcPts val="0"/>
              </a:spcAft>
            </a:pPr>
            <a:r>
              <a:rPr sz="1150" b="0">
                <a:solidFill>
                  <a:srgbClr val="5A5A5A"/>
                </a:solidFill>
                <a:latin typeface="Arial"/>
              </a:rPr>
              <a:t>The human route carries the evidence and the arithmetic</a:t>
            </a:r>
          </a:p>
        </p:txBody>
      </p:sp>
      <p:sp>
        <p:nvSpPr>
          <p:cNvPr id="23" name="Rounded Rectangle 22"/>
          <p:cNvSpPr/>
          <p:nvPr/>
        </p:nvSpPr>
        <p:spPr>
          <a:xfrm>
            <a:off x="6766560" y="5760720"/>
            <a:ext cx="4937760" cy="548640"/>
          </a:xfrm>
          <a:prstGeom prst="roundRect">
            <a:avLst/>
          </a:prstGeom>
          <a:solidFill>
            <a:srgbClr val="FF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40880" y="5943600"/>
            <a:ext cx="4480560" cy="365760"/>
          </a:xfrm>
          <a:prstGeom prst="rect">
            <a:avLst/>
          </a:prstGeom>
          <a:noFill/>
        </p:spPr>
        <p:txBody>
          <a:bodyPr wrap="square" lIns="0" rIns="0" tIns="0" bIns="0">
            <a:spAutoFit/>
          </a:bodyPr>
          <a:lstStyle/>
          <a:p>
            <a:pPr algn="l">
              <a:lnSpc>
                <a:spcPct val="110000"/>
              </a:lnSpc>
              <a:spcBef>
                <a:spcPts val="0"/>
              </a:spcBef>
              <a:spcAft>
                <a:spcPts val="0"/>
              </a:spcAft>
            </a:pPr>
            <a:r>
              <a:rPr sz="1150" b="1">
                <a:solidFill>
                  <a:srgbClr val="A31F57"/>
                </a:solidFill>
                <a:latin typeface="Arial"/>
              </a:rPr>
              <a:t>No track record can override a fixed safety boundary.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66928"/>
            <a:ext cx="11201400" cy="36576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A000FF"/>
                </a:solidFill>
                <a:latin typeface="Arial"/>
              </a:rPr>
              <a:t>ADOPTION</a:t>
            </a:r>
          </a:p>
        </p:txBody>
      </p:sp>
      <p:sp>
        <p:nvSpPr>
          <p:cNvPr id="3" name="TextBox 2"/>
          <p:cNvSpPr txBox="1"/>
          <p:nvPr/>
        </p:nvSpPr>
        <p:spPr>
          <a:xfrm>
            <a:off x="502920" y="795527"/>
            <a:ext cx="10424160" cy="731520"/>
          </a:xfrm>
          <a:prstGeom prst="rect">
            <a:avLst/>
          </a:prstGeom>
          <a:noFill/>
        </p:spPr>
        <p:txBody>
          <a:bodyPr wrap="square" lIns="0" rIns="0" tIns="0" bIns="0">
            <a:spAutoFit/>
          </a:bodyPr>
          <a:lstStyle/>
          <a:p>
            <a:pPr algn="l">
              <a:lnSpc>
                <a:spcPct val="114000"/>
              </a:lnSpc>
              <a:spcBef>
                <a:spcPts val="0"/>
              </a:spcBef>
              <a:spcAft>
                <a:spcPts val="0"/>
              </a:spcAft>
            </a:pPr>
            <a:r>
              <a:rPr sz="2100" b="1">
                <a:solidFill>
                  <a:srgbClr val="450073"/>
                </a:solidFill>
                <a:latin typeface="Arial"/>
              </a:rPr>
              <a:t>Start it watching. Let it earn the rest.</a:t>
            </a:r>
          </a:p>
        </p:txBody>
      </p:sp>
      <p:sp>
        <p:nvSpPr>
          <p:cNvPr id="4" name="Rectangle 3"/>
          <p:cNvSpPr/>
          <p:nvPr/>
        </p:nvSpPr>
        <p:spPr>
          <a:xfrm>
            <a:off x="502920" y="1618488"/>
            <a:ext cx="1371600" cy="25603"/>
          </a:xfrm>
          <a:prstGeom prst="rect">
            <a:avLst/>
          </a:prstGeom>
          <a:solidFill>
            <a:srgbClr val="A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70432" y="2148840"/>
            <a:ext cx="45720" cy="3246120"/>
          </a:xfrm>
          <a:prstGeom prst="rect">
            <a:avLst/>
          </a:prstGeom>
          <a:solidFill>
            <a:srgbClr val="D8D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60704" y="2157984"/>
            <a:ext cx="256032" cy="256032"/>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08760" y="2103120"/>
            <a:ext cx="237744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7400C0"/>
                </a:solidFill>
                <a:latin typeface="Arial"/>
              </a:rPr>
              <a:t>WEEKS 1-2</a:t>
            </a:r>
          </a:p>
        </p:txBody>
      </p:sp>
      <p:sp>
        <p:nvSpPr>
          <p:cNvPr id="8" name="TextBox 7"/>
          <p:cNvSpPr txBox="1"/>
          <p:nvPr/>
        </p:nvSpPr>
        <p:spPr>
          <a:xfrm>
            <a:off x="1508760" y="2340863"/>
            <a:ext cx="237744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Connect</a:t>
            </a:r>
          </a:p>
        </p:txBody>
      </p:sp>
      <p:sp>
        <p:nvSpPr>
          <p:cNvPr id="9" name="TextBox 8"/>
          <p:cNvSpPr txBox="1"/>
          <p:nvPr/>
        </p:nvSpPr>
        <p:spPr>
          <a:xfrm>
            <a:off x="4023360" y="2231136"/>
            <a:ext cx="7680960" cy="64008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One agent, one system of record, one outcome feed. It decides, and nothing acts on those decisions.</a:t>
            </a:r>
          </a:p>
        </p:txBody>
      </p:sp>
      <p:sp>
        <p:nvSpPr>
          <p:cNvPr id="10" name="Oval 9"/>
          <p:cNvSpPr/>
          <p:nvPr/>
        </p:nvSpPr>
        <p:spPr>
          <a:xfrm>
            <a:off x="1060704" y="2999232"/>
            <a:ext cx="256032" cy="256032"/>
          </a:xfrm>
          <a:prstGeom prst="ellipse">
            <a:avLst/>
          </a:prstGeom>
          <a:solidFill>
            <a:srgbClr val="03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08760" y="2944368"/>
            <a:ext cx="237744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036B62"/>
                </a:solidFill>
                <a:latin typeface="Arial"/>
              </a:rPr>
              <a:t>WEEKS 3-6</a:t>
            </a:r>
          </a:p>
        </p:txBody>
      </p:sp>
      <p:sp>
        <p:nvSpPr>
          <p:cNvPr id="12" name="TextBox 11"/>
          <p:cNvSpPr txBox="1"/>
          <p:nvPr/>
        </p:nvSpPr>
        <p:spPr>
          <a:xfrm>
            <a:off x="1508760" y="3182111"/>
            <a:ext cx="237744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Validate</a:t>
            </a:r>
          </a:p>
        </p:txBody>
      </p:sp>
      <p:sp>
        <p:nvSpPr>
          <p:cNvPr id="13" name="TextBox 12"/>
          <p:cNvSpPr txBox="1"/>
          <p:nvPr/>
        </p:nvSpPr>
        <p:spPr>
          <a:xfrm>
            <a:off x="4023360" y="3072384"/>
            <a:ext cx="7680960" cy="64008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Check the probabilities against what actually happened, and put the reviewer screen in front of reviewers.</a:t>
            </a:r>
          </a:p>
        </p:txBody>
      </p:sp>
      <p:sp>
        <p:nvSpPr>
          <p:cNvPr id="14" name="Oval 13"/>
          <p:cNvSpPr/>
          <p:nvPr/>
        </p:nvSpPr>
        <p:spPr>
          <a:xfrm>
            <a:off x="1060704" y="3840479"/>
            <a:ext cx="256032" cy="256032"/>
          </a:xfrm>
          <a:prstGeom prst="ellipse">
            <a:avLst/>
          </a:prstGeom>
          <a:solidFill>
            <a:srgbClr val="A31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508760" y="3785615"/>
            <a:ext cx="237744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A31F57"/>
                </a:solidFill>
                <a:latin typeface="Arial"/>
              </a:rPr>
              <a:t>WEEKS 7-10</a:t>
            </a:r>
          </a:p>
        </p:txBody>
      </p:sp>
      <p:sp>
        <p:nvSpPr>
          <p:cNvPr id="16" name="TextBox 15"/>
          <p:cNvSpPr txBox="1"/>
          <p:nvPr/>
        </p:nvSpPr>
        <p:spPr>
          <a:xfrm>
            <a:off x="1508760" y="4023359"/>
            <a:ext cx="237744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Constrain</a:t>
            </a:r>
          </a:p>
        </p:txBody>
      </p:sp>
      <p:sp>
        <p:nvSpPr>
          <p:cNvPr id="17" name="TextBox 16"/>
          <p:cNvSpPr txBox="1"/>
          <p:nvPr/>
        </p:nvSpPr>
        <p:spPr>
          <a:xfrm>
            <a:off x="4023360" y="3913631"/>
            <a:ext cx="7680960" cy="64008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Let it act on small reversible things, where the record already clears the promotion gates.</a:t>
            </a:r>
          </a:p>
        </p:txBody>
      </p:sp>
      <p:sp>
        <p:nvSpPr>
          <p:cNvPr id="18" name="Oval 17"/>
          <p:cNvSpPr/>
          <p:nvPr/>
        </p:nvSpPr>
        <p:spPr>
          <a:xfrm>
            <a:off x="1060704" y="4681727"/>
            <a:ext cx="256032" cy="256032"/>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508760" y="4626864"/>
            <a:ext cx="2377440" cy="365760"/>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7400C0"/>
                </a:solidFill>
                <a:latin typeface="Arial"/>
              </a:rPr>
              <a:t>WEEKS 11-13</a:t>
            </a:r>
          </a:p>
        </p:txBody>
      </p:sp>
      <p:sp>
        <p:nvSpPr>
          <p:cNvPr id="20" name="TextBox 19"/>
          <p:cNvSpPr txBox="1"/>
          <p:nvPr/>
        </p:nvSpPr>
        <p:spPr>
          <a:xfrm>
            <a:off x="1508760" y="4864607"/>
            <a:ext cx="2377440" cy="411480"/>
          </a:xfrm>
          <a:prstGeom prst="rect">
            <a:avLst/>
          </a:prstGeom>
          <a:noFill/>
        </p:spPr>
        <p:txBody>
          <a:bodyPr wrap="square" lIns="0" rIns="0" tIns="0" bIns="0">
            <a:spAutoFit/>
          </a:bodyPr>
          <a:lstStyle/>
          <a:p>
            <a:pPr algn="l">
              <a:lnSpc>
                <a:spcPct val="100000"/>
              </a:lnSpc>
              <a:spcBef>
                <a:spcPts val="0"/>
              </a:spcBef>
              <a:spcAft>
                <a:spcPts val="0"/>
              </a:spcAft>
            </a:pPr>
            <a:r>
              <a:rPr sz="1800" b="1">
                <a:solidFill>
                  <a:srgbClr val="1A1A1A"/>
                </a:solidFill>
                <a:latin typeface="Arial"/>
              </a:rPr>
              <a:t>Expand</a:t>
            </a:r>
          </a:p>
        </p:txBody>
      </p:sp>
      <p:sp>
        <p:nvSpPr>
          <p:cNvPr id="21" name="TextBox 20"/>
          <p:cNvSpPr txBox="1"/>
          <p:nvPr/>
        </p:nvSpPr>
        <p:spPr>
          <a:xfrm>
            <a:off x="4023360" y="4754879"/>
            <a:ext cx="7680960" cy="64008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5A5A5A"/>
                </a:solidFill>
                <a:latin typeface="Arial"/>
              </a:rPr>
              <a:t>Open one more value band. Decide whether a second use case is worth doing.</a:t>
            </a:r>
          </a:p>
        </p:txBody>
      </p:sp>
      <p:sp>
        <p:nvSpPr>
          <p:cNvPr id="22" name="Rounded Rectangle 21"/>
          <p:cNvSpPr/>
          <p:nvPr/>
        </p:nvSpPr>
        <p:spPr>
          <a:xfrm>
            <a:off x="9052560" y="5760720"/>
            <a:ext cx="1463040" cy="365760"/>
          </a:xfrm>
          <a:prstGeom prst="roundRect">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1000" b="1">
                <a:solidFill>
                  <a:srgbClr val="450073"/>
                </a:solidFill>
                <a:latin typeface="Arial"/>
              </a:rPr>
              <a:t>PILOT GATE</a:t>
            </a:r>
          </a:p>
        </p:txBody>
      </p:sp>
      <p:sp>
        <p:nvSpPr>
          <p:cNvPr id="23" name="TextBox 22"/>
          <p:cNvSpPr txBox="1"/>
          <p:nvPr/>
        </p:nvSpPr>
        <p:spPr>
          <a:xfrm>
            <a:off x="1508760" y="5870448"/>
            <a:ext cx="7132320" cy="365760"/>
          </a:xfrm>
          <a:prstGeom prst="rect">
            <a:avLst/>
          </a:prstGeom>
          <a:noFill/>
        </p:spPr>
        <p:txBody>
          <a:bodyPr wrap="square" lIns="0" rIns="0" tIns="0" bIns="0">
            <a:spAutoFit/>
          </a:bodyPr>
          <a:lstStyle/>
          <a:p>
            <a:pPr algn="l">
              <a:lnSpc>
                <a:spcPct val="120000"/>
              </a:lnSpc>
              <a:spcBef>
                <a:spcPts val="0"/>
              </a:spcBef>
              <a:spcAft>
                <a:spcPts val="0"/>
              </a:spcAft>
            </a:pPr>
            <a:r>
              <a:rPr sz="1200" b="0">
                <a:solidFill>
                  <a:srgbClr val="1A1A1A"/>
                </a:solidFill>
                <a:latin typeface="Arial"/>
              </a:rPr>
              <a:t>Calibration, retained loss, review reduction, latency and operator acceptance.</a:t>
            </a:r>
          </a:p>
        </p:txBody>
      </p:sp>
    </p:spTree>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16</TotalTime>
  <Words>571</Words>
  <Application>Microsoft Office PowerPoint</Application>
  <PresentationFormat>Widescreen</PresentationFormat>
  <Paragraphs>40</Paragraphs>
  <Slides>5</Slides>
  <Notes>0</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vt:i4>
      </vt:variant>
    </vt:vector>
  </HeadingPairs>
  <TitlesOfParts>
    <vt:vector size="21" baseType="lpstr">
      <vt:lpstr>Aptos</vt:lpstr>
      <vt:lpstr>Arial</vt:lpstr>
      <vt:lpstr>Calibri</vt:lpstr>
      <vt:lpstr>Calibri Light</vt:lpstr>
      <vt:lpstr>Graphik</vt:lpstr>
      <vt:lpstr>Graphik Black</vt:lpstr>
      <vt:lpstr>Graphik Extralight</vt:lpstr>
      <vt:lpstr>Graphik Medium</vt:lpstr>
      <vt:lpstr>Graphik Regular</vt:lpstr>
      <vt:lpstr>Graphik Semibold</vt:lpstr>
      <vt:lpstr>Graphik-Semibold</vt:lpstr>
      <vt:lpstr>System Font</vt:lpstr>
      <vt:lpstr>Accenture 2025</vt:lpstr>
      <vt:lpstr>1_Titles</vt:lpstr>
      <vt:lpstr>Titles</vt:lpstr>
      <vt:lpstr>1_Office Theme</vt:lpstr>
      <vt:lpstr>Team details</vt:lpstr>
      <vt:lpstr>PowerPoint Presentation</vt:lpstr>
      <vt:lpstr>PowerPoint Presentation</vt:lpstr>
      <vt:lpstr>Video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lastModifiedBy>Rushil Jain</cp:lastModifiedBy>
  <cp:revision>4</cp:revision>
  <dcterms:created xsi:type="dcterms:W3CDTF">2026-07-24T04:09:52Z</dcterms:created>
  <dcterms:modified xsi:type="dcterms:W3CDTF">2026-08-16T17:40:00Z</dcterms:modified>
</cp:coreProperties>
</file>